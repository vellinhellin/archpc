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  <p:sldId id="265" r:id="rId14"/>
    <p:sldId id="270" r:id="rId15"/>
    <p:sldId id="272" r:id="rId16"/>
    <p:sldId id="273" r:id="rId17"/>
    <p:sldId id="274" r:id="rId18"/>
    <p:sldId id="284" r:id="rId19"/>
    <p:sldId id="285" r:id="rId20"/>
    <p:sldId id="288" r:id="rId21"/>
    <p:sldId id="289" r:id="rId22"/>
    <p:sldId id="275" r:id="rId23"/>
    <p:sldId id="276" r:id="rId24"/>
    <p:sldId id="277" r:id="rId25"/>
    <p:sldId id="278" r:id="rId26"/>
    <p:sldId id="283" r:id="rId27"/>
    <p:sldId id="279" r:id="rId28"/>
    <p:sldId id="280" r:id="rId29"/>
    <p:sldId id="281" r:id="rId30"/>
    <p:sldId id="287" r:id="rId31"/>
    <p:sldId id="282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24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10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30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79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15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46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439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25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44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82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884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164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845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55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932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712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0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0EA12-6215-4C16-81CF-187A5D5F153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55D68-9ADB-456E-A04B-D3CE9EB04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711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09B8C-3E9D-49B9-8ECA-8566565DE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662377"/>
            <a:ext cx="8791575" cy="1533246"/>
          </a:xfrm>
        </p:spPr>
        <p:txBody>
          <a:bodyPr/>
          <a:lstStyle/>
          <a:p>
            <a:pPr algn="ctr"/>
            <a:r>
              <a:rPr lang="ru-RU" b="0" i="0" dirty="0">
                <a:effectLst/>
                <a:latin typeface="Arial Black" panose="020B0A04020102020204" pitchFamily="34" charset="0"/>
              </a:rPr>
              <a:t>Характеристики линий связи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22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CDB85-783D-414E-8A4C-449FF79E9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82389"/>
            <a:ext cx="9905998" cy="1478570"/>
          </a:xfrm>
        </p:spPr>
        <p:txBody>
          <a:bodyPr/>
          <a:lstStyle/>
          <a:p>
            <a:r>
              <a:rPr lang="ru-RU" b="1" i="0" dirty="0">
                <a:effectLst/>
                <a:latin typeface="Arial Black" panose="020B0A04020102020204" pitchFamily="34" charset="0"/>
              </a:rPr>
              <a:t>К основным характеристикам линий связи относятся:</a:t>
            </a:r>
            <a:endParaRPr lang="ru-RU" b="1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11C71B-3AE6-428E-AB10-21880B19B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60960"/>
            <a:ext cx="9905999" cy="4814652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амплитудно-частотная характеристика;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полоса пропускания;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затухание;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помехоустойчивость;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перекрестные наводки на ближнем конце линии;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пропускная способность;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достоверность передачи данных;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удельная стоимость.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В первую очередь разработчика вычислительной сети интересуют пропускная способность и достоверность передачи данных, поскольку эти характеристики прямо влияют на производительность и надежность создаваемой сети.</a:t>
            </a:r>
          </a:p>
        </p:txBody>
      </p:sp>
    </p:spTree>
    <p:extLst>
      <p:ext uri="{BB962C8B-B14F-4D97-AF65-F5344CB8AC3E}">
        <p14:creationId xmlns:p14="http://schemas.microsoft.com/office/powerpoint/2010/main" val="146123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51E84-85C6-43CD-9458-5C7F6958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ru-RU" b="1" dirty="0">
                <a:latin typeface="Arial Black" panose="020B0A04020102020204" pitchFamily="34" charset="0"/>
              </a:rPr>
              <a:t>Амплитудно-частотная характеристика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08212C-34A6-4C4A-A9CF-426E2E327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10728"/>
            <a:ext cx="9905999" cy="486783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Амплитудно-частотная характеристика</a:t>
            </a:r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 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показывает, как затухает амплитуда синусоиды на выходе линии связи по сравнению с амплитудой на ее входе для всех возможных частот передаваемого сигнала.</a:t>
            </a:r>
          </a:p>
          <a:p>
            <a:pPr marL="0" indent="0" algn="just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Знание амплитудно-частотной характеристики реальной линии позволяет определить форму выходного сигнала практически для любого входного сигнала. Для этого необходимо найти спектр входного сигнала, преобразовать амплитуду составляющих его гармоник в соответствии с амплитудно-частотной характеристикой, а затем найти форму выходного сигнала, сложив преобразованные гармоники.</a:t>
            </a:r>
          </a:p>
          <a:p>
            <a:pPr marL="0" indent="0" algn="just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На практике вместо амплитудно-частотной характеристики применяются другие, упрощенные характеристики, например, полоса </a:t>
            </a:r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пропускания и </a:t>
            </a:r>
            <a:r>
              <a:rPr lang="ru-RU" b="1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затухание.</a:t>
            </a:r>
          </a:p>
          <a:p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10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6BBD8-F09D-4209-98C6-1606CEC1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7AF226-46C3-4A93-AB0E-E2FF22AD2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3288F9-5A3A-4B86-BF8D-404A1DAD44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03"/>
          <a:stretch/>
        </p:blipFill>
        <p:spPr>
          <a:xfrm>
            <a:off x="0" y="-17731"/>
            <a:ext cx="12192000" cy="687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8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99A06-3489-4D74-B84D-E026F97B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27514"/>
            <a:ext cx="9905998" cy="1478570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ПОЛОСА ПРОПУСКАНИЯ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256B3-EB0A-490D-A39B-5ECB214CE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658142"/>
            <a:ext cx="10006201" cy="4661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Полоса пропускания</a:t>
            </a:r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 (</a:t>
            </a:r>
            <a:r>
              <a:rPr lang="ru-RU" b="0" i="0" dirty="0" err="1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bandwidth</a:t>
            </a:r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) 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- это непрерывный диапазон частот, для которого отношение амплитуды выходного сигнала к входному превышает некоторый заранее заданный предел, обычно 0,5.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То есть, полоса пропускания определяет диапазон частот синусоидального сигнала, при которых этот сигнал передается по линии связи без значительных искажений.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Полоса пропускания зависит от типа линии и ее протяженности.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21490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AB9A0-1151-4CAC-8FC2-3E85B575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D4E240-F238-48A6-BE37-1A8AFA3CD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68F26A-E5C9-4D3F-A5D1-51888694B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46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CD31B-08A5-4679-82CC-C7824A77B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537835"/>
            <a:ext cx="9905998" cy="1478570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</a:rPr>
              <a:t>ЗАТУХАНИЕ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283D4B-068F-41DF-B993-213F3EA76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639887"/>
            <a:ext cx="9905999" cy="3779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b="1" dirty="0">
              <a:solidFill>
                <a:srgbClr val="FFC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  <a:latin typeface="Arial Black" panose="020B0A04020102020204" pitchFamily="34" charset="0"/>
              </a:rPr>
              <a:t>Затухание </a:t>
            </a:r>
            <a:r>
              <a:rPr lang="ru-RU" b="1" dirty="0">
                <a:latin typeface="Arial Black" panose="020B0A04020102020204" pitchFamily="34" charset="0"/>
              </a:rPr>
              <a:t>определяется как относительное уменьшение амплитуды или мощности сигнала при передаче по линии сигнала определенной частоты. Таким образом, затухание представляет собой одну точку из амплитудно-частотной характеристики линии.</a:t>
            </a:r>
          </a:p>
          <a:p>
            <a:pPr marL="0" indent="0">
              <a:buNone/>
            </a:pPr>
            <a:endParaRPr lang="ru-RU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1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93CB6B1-6C8E-4679-8B11-85DABC2EC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00200"/>
            <a:ext cx="9905999" cy="419100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Затухание</a:t>
            </a:r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А</a:t>
            </a:r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обычно измеряется в децибелах (дБ, </a:t>
            </a:r>
            <a:r>
              <a:rPr lang="ru-RU" b="0" i="0" dirty="0" err="1">
                <a:effectLst/>
                <a:latin typeface="Arial Black" panose="020B0A04020102020204" pitchFamily="34" charset="0"/>
              </a:rPr>
              <a:t>decibel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 - </a:t>
            </a:r>
            <a:r>
              <a:rPr lang="ru-RU" b="0" i="0" dirty="0" err="1">
                <a:effectLst/>
                <a:latin typeface="Arial Black" panose="020B0A04020102020204" pitchFamily="34" charset="0"/>
              </a:rPr>
              <a:t>dB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) и вычисляется по следующей формуле:</a:t>
            </a:r>
          </a:p>
          <a:p>
            <a:pPr algn="ctr"/>
            <a:r>
              <a:rPr lang="ru-RU" b="0" i="0" dirty="0">
                <a:effectLst/>
                <a:latin typeface="Arial Black" panose="020B0A04020102020204" pitchFamily="34" charset="0"/>
              </a:rPr>
              <a:t>А = 10 log</a:t>
            </a:r>
            <a:r>
              <a:rPr lang="ru-RU" b="0" i="0" baseline="-25000" dirty="0">
                <a:effectLst/>
                <a:latin typeface="Arial Black" panose="020B0A04020102020204" pitchFamily="34" charset="0"/>
              </a:rPr>
              <a:t>10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 </a:t>
            </a:r>
            <a:r>
              <a:rPr lang="ru-RU" b="0" i="0" dirty="0" err="1">
                <a:effectLst/>
                <a:latin typeface="Arial Black" panose="020B0A04020102020204" pitchFamily="34" charset="0"/>
              </a:rPr>
              <a:t>Р</a:t>
            </a:r>
            <a:r>
              <a:rPr lang="ru-RU" b="0" i="0" baseline="-25000" dirty="0" err="1">
                <a:effectLst/>
                <a:latin typeface="Arial Black" panose="020B0A04020102020204" pitchFamily="34" charset="0"/>
              </a:rPr>
              <a:t>вых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 /</a:t>
            </a:r>
            <a:r>
              <a:rPr lang="ru-RU" b="0" i="0" dirty="0" err="1">
                <a:effectLst/>
                <a:latin typeface="Arial Black" panose="020B0A04020102020204" pitchFamily="34" charset="0"/>
              </a:rPr>
              <a:t>Р</a:t>
            </a:r>
            <a:r>
              <a:rPr lang="ru-RU" b="0" i="0" baseline="-25000" dirty="0" err="1">
                <a:effectLst/>
                <a:latin typeface="Arial Black" panose="020B0A04020102020204" pitchFamily="34" charset="0"/>
              </a:rPr>
              <a:t>вх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,</a:t>
            </a:r>
          </a:p>
          <a:p>
            <a:pPr marL="0" indent="0" algn="just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где </a:t>
            </a:r>
            <a:r>
              <a:rPr lang="ru-RU" b="0" i="0" dirty="0" err="1">
                <a:effectLst/>
                <a:latin typeface="Arial Black" panose="020B0A04020102020204" pitchFamily="34" charset="0"/>
              </a:rPr>
              <a:t>Р</a:t>
            </a:r>
            <a:r>
              <a:rPr lang="ru-RU" b="0" i="0" baseline="-25000" dirty="0" err="1">
                <a:effectLst/>
                <a:latin typeface="Arial Black" panose="020B0A04020102020204" pitchFamily="34" charset="0"/>
              </a:rPr>
              <a:t>вых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 - мощность сигнала на выходе линии, </a:t>
            </a:r>
            <a:r>
              <a:rPr lang="ru-RU" b="0" i="0" dirty="0" err="1">
                <a:effectLst/>
                <a:latin typeface="Arial Black" panose="020B0A04020102020204" pitchFamily="34" charset="0"/>
              </a:rPr>
              <a:t>Р</a:t>
            </a:r>
            <a:r>
              <a:rPr lang="ru-RU" b="0" i="0" baseline="-25000" dirty="0" err="1">
                <a:effectLst/>
                <a:latin typeface="Arial Black" panose="020B0A04020102020204" pitchFamily="34" charset="0"/>
              </a:rPr>
              <a:t>вх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 - мощность сигнала на входе линии.</a:t>
            </a:r>
          </a:p>
          <a:p>
            <a:pPr marL="0" indent="0" algn="just">
              <a:buNone/>
            </a:pPr>
            <a:endParaRPr lang="ru-RU" dirty="0">
              <a:latin typeface="Arial Black" panose="020B0A04020102020204" pitchFamily="34" charset="0"/>
            </a:endParaRPr>
          </a:p>
          <a:p>
            <a:pPr marL="0" indent="0" algn="just">
              <a:buNone/>
            </a:pPr>
            <a:r>
              <a:rPr lang="ru-RU" b="0" i="1" dirty="0">
                <a:effectLst/>
                <a:latin typeface="Arial Black" panose="020B0A04020102020204" pitchFamily="34" charset="0"/>
              </a:rPr>
              <a:t>Так как мощность выходного сигнала кабеля без промежуточных усилителей всегда меньше, чем мощность входного сигнала, затухание кабеля всегда является отрицательной величиной.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782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0FB4F-963F-451B-8CCC-79C5C3CB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Окно прозрачности оптического волокна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BF8B8-A8C9-425F-A03D-415A63338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Диапазон длин волн оптического излучения, в котором имеет место меньшее, по сравнению с другими диапазонами, затухание излучения в среде, в частности — в оптическом волокне. 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Стандартное ступенчатое оптическое волокно (SMF) имеет 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три окна прозрачности</a:t>
            </a:r>
            <a:r>
              <a:rPr lang="ru-RU" dirty="0">
                <a:latin typeface="Arial Black" panose="020B0A04020102020204" pitchFamily="34" charset="0"/>
              </a:rPr>
              <a:t>: 850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, 1310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 и 1550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. К настоящему времени разработаны четвёртое (1580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) и пятое (1400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) окна прозрачности, а также оптические волокна, имеющие относительно хорошую прозрачность во всём ближнем инфракрасном диапазоне. </a:t>
            </a:r>
          </a:p>
        </p:txBody>
      </p:sp>
    </p:spTree>
    <p:extLst>
      <p:ext uri="{BB962C8B-B14F-4D97-AF65-F5344CB8AC3E}">
        <p14:creationId xmlns:p14="http://schemas.microsoft.com/office/powerpoint/2010/main" val="135836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013C2F7-4D68-4E71-A61E-51DCABD7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745"/>
            <a:ext cx="9905999" cy="32772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Пятое окно прозрачности появилось в результате тщательной очистки оптического волокна от посторонних примесей. Таким образом было получено оптическое волокно </a:t>
            </a:r>
            <a:r>
              <a:rPr lang="ru-RU" dirty="0" err="1">
                <a:latin typeface="Arial Black" panose="020B0A04020102020204" pitchFamily="34" charset="0"/>
              </a:rPr>
              <a:t>AllWave</a:t>
            </a:r>
            <a:r>
              <a:rPr lang="ru-RU" dirty="0">
                <a:latin typeface="Arial Black" panose="020B0A04020102020204" pitchFamily="34" charset="0"/>
              </a:rPr>
              <a:t>, имеющее малые потери во всей области от 1280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 до 1650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В связи с расширением рабочего диапазона оптических волокон Международным союзом электросвязи были утверждены новые спектральные диапазоны в интервале 1260…1675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8E5DD5-5B8C-475E-A919-FB79624A9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954" y="3429000"/>
            <a:ext cx="8192091" cy="314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54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0A1BC-8064-484B-8B05-F9868110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/>
              <a:t>ВОДЯНОЙ ПИК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2E26B8-AEDB-4637-907D-8E8765830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Водяной пик </a:t>
            </a:r>
            <a:r>
              <a:rPr lang="ru-RU" dirty="0">
                <a:latin typeface="Arial Black" panose="020B0A04020102020204" pitchFamily="34" charset="0"/>
              </a:rPr>
              <a:t>– это повышение затухания сигнала в е-диапазоне волн (от 1360 до 1460 </a:t>
            </a:r>
            <a:r>
              <a:rPr lang="ru-RU" dirty="0" err="1">
                <a:latin typeface="Arial Black" panose="020B0A04020102020204" pitchFamily="34" charset="0"/>
              </a:rPr>
              <a:t>нм</a:t>
            </a:r>
            <a:r>
              <a:rPr lang="ru-RU" dirty="0">
                <a:latin typeface="Arial Black" panose="020B0A04020102020204" pitchFamily="34" charset="0"/>
              </a:rPr>
              <a:t>). Он вызван воздействием на оптоволокно ионов гидроксила. Если у волокна нет водяного пика, то в данном диапазоне потери будут минимальными.</a:t>
            </a:r>
          </a:p>
        </p:txBody>
      </p:sp>
    </p:spTree>
    <p:extLst>
      <p:ext uri="{BB962C8B-B14F-4D97-AF65-F5344CB8AC3E}">
        <p14:creationId xmlns:p14="http://schemas.microsoft.com/office/powerpoint/2010/main" val="212674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3DF17-7269-402C-BBD5-2A07C5EF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F1D00C-7A40-4327-9BB8-421EDDD5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26FC82-04DE-47E2-AFFE-5700F4D2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EF8843-F640-44D6-B1C6-FDF0C5B5452E}"/>
              </a:ext>
            </a:extLst>
          </p:cNvPr>
          <p:cNvSpPr/>
          <p:nvPr/>
        </p:nvSpPr>
        <p:spPr>
          <a:xfrm>
            <a:off x="10216444" y="6197600"/>
            <a:ext cx="1840089" cy="496711"/>
          </a:xfrm>
          <a:prstGeom prst="rect">
            <a:avLst/>
          </a:prstGeom>
          <a:solidFill>
            <a:srgbClr val="E8E5F0"/>
          </a:solidFill>
          <a:ln>
            <a:solidFill>
              <a:srgbClr val="E8E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04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F4BFD-8BE2-43C0-BAC0-F15BC641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Пропускная способность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2D7A10-A154-4716-8A4E-154AB5A22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Пропускная способность (</a:t>
            </a:r>
            <a:r>
              <a:rPr lang="ru-RU" dirty="0" err="1">
                <a:solidFill>
                  <a:srgbClr val="FFC000"/>
                </a:solidFill>
                <a:latin typeface="Arial Black" panose="020B0A04020102020204" pitchFamily="34" charset="0"/>
              </a:rPr>
              <a:t>throughput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) </a:t>
            </a:r>
            <a:r>
              <a:rPr lang="ru-RU" dirty="0">
                <a:latin typeface="Arial Black" panose="020B0A04020102020204" pitchFamily="34" charset="0"/>
              </a:rPr>
              <a:t>линии характеризует максимально возможную скорость передачи данных по линии связи. Пропускная способность измеряется в битах в секунду - бит/с, а также в производных единицах, таких как килобит в секунду (Кбит/с), мегабит в секунду (Мбит/с), гигабит в секунду (Гбит/с) и т. д.</a:t>
            </a:r>
          </a:p>
        </p:txBody>
      </p:sp>
    </p:spTree>
    <p:extLst>
      <p:ext uri="{BB962C8B-B14F-4D97-AF65-F5344CB8AC3E}">
        <p14:creationId xmlns:p14="http://schemas.microsoft.com/office/powerpoint/2010/main" val="213757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41F1A-99B1-488D-8FC3-ECB3AD6C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Перекрестные наводки на ближнем конце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722C29-C3B5-4506-A78D-5B7DCAC1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420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Перекрестные наводки на ближнем конце (</a:t>
            </a:r>
            <a:r>
              <a:rPr lang="ru-RU" dirty="0" err="1">
                <a:solidFill>
                  <a:srgbClr val="FFC000"/>
                </a:solidFill>
                <a:latin typeface="Arial Black" panose="020B0A04020102020204" pitchFamily="34" charset="0"/>
              </a:rPr>
              <a:t>Near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 End Cross Talk - NEXT) </a:t>
            </a:r>
            <a:r>
              <a:rPr lang="ru-RU" dirty="0">
                <a:latin typeface="Arial Black" panose="020B0A04020102020204" pitchFamily="34" charset="0"/>
              </a:rPr>
              <a:t>определяют помехоустойчивость кабеля к внутренним источникам помех, когда электромагнитное поле сигнала, передаваемого выходом передатчика по одной паре проводников, наводит на другую пару проводников сигнал помехи. 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Если ко второй паре будет подключен приемник, то он может принять наведенную внутреннюю помеху за полезный сигнал. </a:t>
            </a:r>
          </a:p>
        </p:txBody>
      </p:sp>
    </p:spTree>
    <p:extLst>
      <p:ext uri="{BB962C8B-B14F-4D97-AF65-F5344CB8AC3E}">
        <p14:creationId xmlns:p14="http://schemas.microsoft.com/office/powerpoint/2010/main" val="2490491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9B5CD-4D5D-4780-B504-9C73B8A4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5CF4AA-B2FA-4EBA-B925-55126001A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D439C9-4797-452B-8FD6-D4A6251C7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519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2B4CA-E2BC-452E-99C6-1D117A92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Достоверность передачи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5A2F8-FB70-4673-A6F6-6E8739F8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09752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Достоверность передачи данных </a:t>
            </a:r>
            <a:r>
              <a:rPr lang="ru-RU" dirty="0">
                <a:latin typeface="Arial Black" panose="020B0A04020102020204" pitchFamily="34" charset="0"/>
              </a:rPr>
              <a:t>характеризует вероятность искажения для каждого передаваемого бита данных. Величина этого показателя для каналов связи без дополнительных средств защиты от ошибок составляет, как правило,10-4 - 10-6, в оптоволоконных линиях связи - 10-9. </a:t>
            </a:r>
          </a:p>
          <a:p>
            <a:r>
              <a:rPr lang="ru-RU" dirty="0">
                <a:latin typeface="Arial Black" panose="020B0A04020102020204" pitchFamily="34" charset="0"/>
              </a:rPr>
              <a:t>Значение достоверности передачи данных, например, в 10-4 говорит о том, что в среднем из 10000 бит искажается значение одного бита.</a:t>
            </a:r>
          </a:p>
        </p:txBody>
      </p:sp>
    </p:spTree>
    <p:extLst>
      <p:ext uri="{BB962C8B-B14F-4D97-AF65-F5344CB8AC3E}">
        <p14:creationId xmlns:p14="http://schemas.microsoft.com/office/powerpoint/2010/main" val="1570313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758A6-8979-45AE-90FE-DD63F2CB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effectLst/>
                <a:latin typeface="Arial Black" panose="020B0A04020102020204" pitchFamily="34" charset="0"/>
              </a:rPr>
              <a:t>Стандарты кабелей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5357B-8A6D-42CE-824B-A125ECFA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В компьютерных сетях применяются кабели, удовлетворяющие определенным стандартам, что позволяет строить кабельную систему сети из кабелей и соединительных устройств разных производителей.</a:t>
            </a:r>
          </a:p>
        </p:txBody>
      </p:sp>
    </p:spTree>
    <p:extLst>
      <p:ext uri="{BB962C8B-B14F-4D97-AF65-F5344CB8AC3E}">
        <p14:creationId xmlns:p14="http://schemas.microsoft.com/office/powerpoint/2010/main" val="303676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8B962-9770-4FD2-866A-641D4158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Koa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льный</a:t>
            </a:r>
            <a:r>
              <a:rPr lang="ru-RU" dirty="0">
                <a:latin typeface="Arial Black" panose="020B0A04020102020204" pitchFamily="34" charset="0"/>
              </a:rPr>
              <a:t> 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FECA5D-3591-488F-AB55-8993792B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Koa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к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c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и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a</a:t>
            </a:r>
            <a:r>
              <a:rPr lang="ru-RU" dirty="0" err="1">
                <a:solidFill>
                  <a:srgbClr val="FFC000"/>
                </a:solidFill>
                <a:latin typeface="Arial Black" panose="020B0A04020102020204" pitchFamily="34" charset="0"/>
              </a:rPr>
              <a:t>льный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 к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a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б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e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ль 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иб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 err="1">
                <a:latin typeface="Arial Black" panose="020B0A04020102020204" pitchFamily="34" charset="0"/>
              </a:rPr>
              <a:t>ee</a:t>
            </a:r>
            <a:r>
              <a:rPr lang="en-US" dirty="0">
                <a:latin typeface="Arial Black" panose="020B0A04020102020204" pitchFamily="34" charset="0"/>
              </a:rPr>
              <a:t> "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pe</a:t>
            </a:r>
            <a:r>
              <a:rPr lang="ru-RU" dirty="0" err="1">
                <a:latin typeface="Arial Black" panose="020B0A04020102020204" pitchFamily="34" charset="0"/>
              </a:rPr>
              <a:t>вний</a:t>
            </a:r>
            <a:r>
              <a:rPr lang="ru-RU" dirty="0">
                <a:latin typeface="Arial Black" panose="020B0A04020102020204" pitchFamily="34" charset="0"/>
              </a:rPr>
              <a:t>" вид </a:t>
            </a:r>
            <a:r>
              <a:rPr lang="en-US" dirty="0" err="1">
                <a:latin typeface="Arial Black" panose="020B0A04020102020204" pitchFamily="34" charset="0"/>
              </a:rPr>
              <a:t>ce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г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ля. </a:t>
            </a:r>
            <a:r>
              <a:rPr lang="en-US" dirty="0">
                <a:latin typeface="Arial Black" panose="020B0A04020102020204" pitchFamily="34" charset="0"/>
              </a:rPr>
              <a:t>B 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ящ</a:t>
            </a:r>
            <a:r>
              <a:rPr lang="en-US" dirty="0" err="1">
                <a:latin typeface="Arial Black" panose="020B0A04020102020204" pitchFamily="34" charset="0"/>
              </a:rPr>
              <a:t>ee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pe</a:t>
            </a:r>
            <a:r>
              <a:rPr lang="ru-RU" dirty="0" err="1">
                <a:latin typeface="Arial Black" panose="020B0A04020102020204" pitchFamily="34" charset="0"/>
              </a:rPr>
              <a:t>мя</a:t>
            </a:r>
            <a:r>
              <a:rPr lang="ru-RU" dirty="0">
                <a:latin typeface="Arial Black" panose="020B0A04020102020204" pitchFamily="34" charset="0"/>
              </a:rPr>
              <a:t> и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льз</a:t>
            </a:r>
            <a:r>
              <a:rPr lang="en-US" dirty="0">
                <a:latin typeface="Arial Black" panose="020B0A04020102020204" pitchFamily="34" charset="0"/>
              </a:rPr>
              <a:t>ye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я для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дключ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вид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, 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льны</a:t>
            </a:r>
            <a:r>
              <a:rPr lang="en-US" dirty="0">
                <a:latin typeface="Arial Black" panose="020B0A04020102020204" pitchFamily="34" charset="0"/>
              </a:rPr>
              <a:t>x </a:t>
            </a:r>
            <a:r>
              <a:rPr lang="en-US" dirty="0" err="1">
                <a:latin typeface="Arial Black" panose="020B0A04020102020204" pitchFamily="34" charset="0"/>
              </a:rPr>
              <a:t>ce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й в вид</a:t>
            </a:r>
            <a:r>
              <a:rPr lang="en-US" dirty="0" err="1">
                <a:latin typeface="Arial Black" panose="020B0A04020102020204" pitchFamily="34" charset="0"/>
              </a:rPr>
              <a:t>eo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блюд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нии</a:t>
            </a:r>
            <a:r>
              <a:rPr lang="ru-RU" dirty="0">
                <a:latin typeface="Arial Black" panose="020B0A04020102020204" pitchFamily="34" charset="0"/>
              </a:rPr>
              <a:t>. </a:t>
            </a:r>
            <a:r>
              <a:rPr lang="en-US" dirty="0">
                <a:latin typeface="Arial Black" panose="020B0A04020102020204" pitchFamily="34" charset="0"/>
              </a:rPr>
              <a:t>Koa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льный</a:t>
            </a:r>
            <a:r>
              <a:rPr lang="ru-RU" dirty="0">
                <a:latin typeface="Arial Black" panose="020B0A04020102020204" pitchFamily="34" charset="0"/>
              </a:rPr>
              <a:t> 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ль им</a:t>
            </a:r>
            <a:r>
              <a:rPr lang="en-US" dirty="0" err="1">
                <a:latin typeface="Arial Black" panose="020B0A04020102020204" pitchFamily="34" charset="0"/>
              </a:rPr>
              <a:t>ee</a:t>
            </a:r>
            <a:r>
              <a:rPr lang="ru-RU" dirty="0">
                <a:latin typeface="Arial Black" panose="020B0A04020102020204" pitchFamily="34" charset="0"/>
              </a:rPr>
              <a:t>т п</a:t>
            </a:r>
            <a:r>
              <a:rPr lang="en-US" dirty="0" err="1">
                <a:latin typeface="Arial Black" panose="020B0A04020102020204" pitchFamily="34" charset="0"/>
              </a:rPr>
              <a:t>poc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ю 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ru-RU" dirty="0" err="1">
                <a:latin typeface="Arial Black" panose="020B0A04020102020204" pitchFamily="34" charset="0"/>
              </a:rPr>
              <a:t>кцию</a:t>
            </a:r>
            <a:r>
              <a:rPr lang="ru-RU" dirty="0">
                <a:latin typeface="Arial Black" panose="020B0A04020102020204" pitchFamily="34" charset="0"/>
              </a:rPr>
              <a:t> – 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ллич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кий п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дник</a:t>
            </a:r>
            <a:r>
              <a:rPr lang="ru-RU" dirty="0">
                <a:latin typeface="Arial Black" panose="020B0A04020102020204" pitchFamily="34" charset="0"/>
              </a:rPr>
              <a:t> (м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дь</a:t>
            </a:r>
            <a:r>
              <a:rPr lang="ru-RU" dirty="0">
                <a:latin typeface="Arial Black" panose="020B0A04020102020204" pitchFamily="34" charset="0"/>
              </a:rPr>
              <a:t>,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ль, 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люминий</a:t>
            </a:r>
            <a:r>
              <a:rPr lang="ru-RU" dirty="0">
                <a:latin typeface="Arial Black" panose="020B0A04020102020204" pitchFamily="34" charset="0"/>
              </a:rPr>
              <a:t>,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 err="1">
                <a:latin typeface="Arial Black" panose="020B0A04020102020204" pitchFamily="34" charset="0"/>
              </a:rPr>
              <a:t>пл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вы) з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ключ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 в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П</a:t>
            </a:r>
            <a:r>
              <a:rPr lang="en-US" dirty="0">
                <a:latin typeface="Arial Black" panose="020B0A04020102020204" pitchFamily="34" charset="0"/>
              </a:rPr>
              <a:t>B</a:t>
            </a:r>
            <a:r>
              <a:rPr lang="ru-RU" dirty="0">
                <a:latin typeface="Arial Black" panose="020B0A04020102020204" pitchFamily="34" charset="0"/>
              </a:rPr>
              <a:t>Х из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ляции</a:t>
            </a:r>
            <a:r>
              <a:rPr lang="ru-RU" dirty="0">
                <a:latin typeface="Arial Black" panose="020B0A04020102020204" pitchFamily="34" charset="0"/>
              </a:rPr>
              <a:t>,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 err="1">
                <a:latin typeface="Arial Black" panose="020B0A04020102020204" pitchFamily="34" charset="0"/>
              </a:rPr>
              <a:t>ыт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пл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тк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из 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люминия</a:t>
            </a:r>
            <a:r>
              <a:rPr lang="ru-RU" dirty="0">
                <a:latin typeface="Arial Black" panose="020B0A04020102020204" pitchFamily="34" charset="0"/>
              </a:rPr>
              <a:t> или 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ди</a:t>
            </a:r>
            <a:r>
              <a:rPr lang="ru-RU" dirty="0">
                <a:latin typeface="Arial Black" panose="020B0A04020102020204" pitchFamily="34" charset="0"/>
              </a:rPr>
              <a:t>,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 err="1">
                <a:latin typeface="Arial Black" panose="020B0A04020102020204" pitchFamily="34" charset="0"/>
              </a:rPr>
              <a:t>epxy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ж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 err="1">
                <a:latin typeface="Arial Black" panose="020B0A04020102020204" pitchFamily="34" charset="0"/>
              </a:rPr>
              <a:t>вн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шняя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чк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лиэтил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a.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131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30777-EE71-44DC-8DF0-ECFA0A29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5085ED-E5CB-4408-9487-19A38BE4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E169D1-BAB7-4C0A-8E1B-69A24A994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06" y="1"/>
            <a:ext cx="977813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E5EB7CB-C7D6-4A69-89DD-E1656D81A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719" y="3080904"/>
            <a:ext cx="9750829" cy="365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513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A7029-43E9-4C16-8BFB-16F9407F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Классификация коаксиальных кабелей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28892-5A1B-46A9-BD11-F55E0670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K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acc</a:t>
            </a:r>
            <a:r>
              <a:rPr lang="ru-RU" dirty="0">
                <a:latin typeface="Arial Black" panose="020B0A04020102020204" pitchFamily="34" charset="0"/>
              </a:rPr>
              <a:t>ифик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ция</a:t>
            </a:r>
            <a:r>
              <a:rPr lang="ru-RU" dirty="0">
                <a:latin typeface="Arial Black" panose="020B0A04020102020204" pitchFamily="34" charset="0"/>
              </a:rPr>
              <a:t>: </a:t>
            </a: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зн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ч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нию</a:t>
            </a:r>
            <a:r>
              <a:rPr lang="ru-RU" dirty="0">
                <a:latin typeface="Arial Black" panose="020B0A04020102020204" pitchFamily="34" charset="0"/>
              </a:rPr>
              <a:t> (для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вязи, 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вид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, 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мпьют</a:t>
            </a:r>
            <a:r>
              <a:rPr lang="en-US" dirty="0">
                <a:latin typeface="Arial Black" panose="020B0A04020102020204" pitchFamily="34" charset="0"/>
              </a:rPr>
              <a:t>ep</a:t>
            </a:r>
            <a:r>
              <a:rPr lang="ru-RU" dirty="0" err="1">
                <a:latin typeface="Arial Black" panose="020B0A04020102020204" pitchFamily="34" charset="0"/>
              </a:rPr>
              <a:t>ны</a:t>
            </a:r>
            <a:r>
              <a:rPr lang="en-US" dirty="0">
                <a:latin typeface="Arial Black" panose="020B0A04020102020204" pitchFamily="34" charset="0"/>
              </a:rPr>
              <a:t>x </a:t>
            </a:r>
            <a:r>
              <a:rPr lang="en-US" dirty="0" err="1">
                <a:latin typeface="Arial Black" panose="020B0A04020102020204" pitchFamily="34" charset="0"/>
              </a:rPr>
              <a:t>ce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й) </a:t>
            </a: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y co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 err="1">
                <a:latin typeface="Arial Black" panose="020B0A04020102020204" pitchFamily="34" charset="0"/>
              </a:rPr>
              <a:t>тивл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нию</a:t>
            </a:r>
            <a:r>
              <a:rPr lang="ru-RU" dirty="0">
                <a:latin typeface="Arial Black" panose="020B0A04020102020204" pitchFamily="34" charset="0"/>
              </a:rPr>
              <a:t> (50, 75, 100, 150, 200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м) </a:t>
            </a: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 err="1">
                <a:latin typeface="Arial Black" panose="020B0A04020102020204" pitchFamily="34" charset="0"/>
              </a:rPr>
              <a:t>ди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Black" panose="020B0A04020102020204" pitchFamily="34" charset="0"/>
              </a:rPr>
              <a:t>из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ляции</a:t>
            </a:r>
            <a:r>
              <a:rPr lang="ru-RU" dirty="0">
                <a:latin typeface="Arial Black" panose="020B0A04020102020204" pitchFamily="34" charset="0"/>
              </a:rPr>
              <a:t> (м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ньки</a:t>
            </a:r>
            <a:r>
              <a:rPr lang="en-US" dirty="0">
                <a:latin typeface="Arial Black" panose="020B0A04020102020204" pitchFamily="34" charset="0"/>
              </a:rPr>
              <a:t>e, </a:t>
            </a:r>
            <a:r>
              <a:rPr lang="en-US" dirty="0" err="1">
                <a:latin typeface="Arial Black" panose="020B0A04020102020204" pitchFamily="34" charset="0"/>
              </a:rPr>
              <a:t>cpe</a:t>
            </a:r>
            <a:r>
              <a:rPr lang="ru-RU" dirty="0">
                <a:latin typeface="Arial Black" panose="020B0A04020102020204" pitchFamily="34" charset="0"/>
              </a:rPr>
              <a:t>дни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и к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ru-RU" dirty="0" err="1">
                <a:latin typeface="Arial Black" panose="020B0A04020102020204" pitchFamily="34" charset="0"/>
              </a:rPr>
              <a:t>пны</a:t>
            </a:r>
            <a:r>
              <a:rPr lang="en-US" dirty="0">
                <a:latin typeface="Arial Black" panose="020B0A04020102020204" pitchFamily="34" charset="0"/>
              </a:rPr>
              <a:t>e) </a:t>
            </a:r>
            <a:endParaRPr lang="ru-RU" dirty="0">
              <a:latin typeface="Arial Black" panose="020B0A04020102020204" pitchFamily="34" charset="0"/>
            </a:endParaRP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en-US" dirty="0" err="1">
                <a:latin typeface="Arial Black" panose="020B0A04020102020204" pitchFamily="34" charset="0"/>
              </a:rPr>
              <a:t>ypo</a:t>
            </a:r>
            <a:r>
              <a:rPr lang="ru-RU" dirty="0" err="1">
                <a:latin typeface="Arial Black" panose="020B0A04020102020204" pitchFamily="34" charset="0"/>
              </a:rPr>
              <a:t>вню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гибк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ти</a:t>
            </a:r>
            <a:r>
              <a:rPr lang="ru-RU" dirty="0">
                <a:latin typeface="Arial Black" panose="020B0A04020102020204" pitchFamily="34" charset="0"/>
              </a:rPr>
              <a:t> (ж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тки</a:t>
            </a:r>
            <a:r>
              <a:rPr lang="en-US" dirty="0">
                <a:latin typeface="Arial Black" panose="020B0A04020102020204" pitchFamily="34" charset="0"/>
              </a:rPr>
              <a:t>e,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ж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тки</a:t>
            </a:r>
            <a:r>
              <a:rPr lang="en-US" dirty="0">
                <a:latin typeface="Arial Black" panose="020B0A04020102020204" pitchFamily="34" charset="0"/>
              </a:rPr>
              <a:t>e, </a:t>
            </a:r>
            <a:r>
              <a:rPr lang="ru-RU" dirty="0">
                <a:latin typeface="Arial Black" panose="020B0A04020102020204" pitchFamily="34" charset="0"/>
              </a:rPr>
              <a:t>гибки</a:t>
            </a:r>
            <a:r>
              <a:rPr lang="en-US" dirty="0">
                <a:latin typeface="Arial Black" panose="020B0A04020102020204" pitchFamily="34" charset="0"/>
              </a:rPr>
              <a:t>e, </a:t>
            </a:r>
            <a:r>
              <a:rPr lang="en-US" dirty="0" err="1">
                <a:latin typeface="Arial Black" panose="020B0A04020102020204" pitchFamily="34" charset="0"/>
              </a:rPr>
              <a:t>oco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гибки</a:t>
            </a:r>
            <a:r>
              <a:rPr lang="en-US" dirty="0">
                <a:latin typeface="Arial Black" panose="020B0A04020102020204" pitchFamily="34" charset="0"/>
              </a:rPr>
              <a:t>e) -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ни эк</a:t>
            </a:r>
            <a:r>
              <a:rPr lang="en-US" dirty="0">
                <a:latin typeface="Arial Black" panose="020B0A04020102020204" pitchFamily="34" charset="0"/>
              </a:rPr>
              <a:t>pa</a:t>
            </a:r>
            <a:r>
              <a:rPr lang="ru-RU" dirty="0">
                <a:latin typeface="Arial Black" panose="020B0A04020102020204" pitchFamily="34" charset="0"/>
              </a:rPr>
              <a:t>ни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(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бычный</a:t>
            </a:r>
            <a:r>
              <a:rPr lang="ru-RU" dirty="0">
                <a:latin typeface="Arial Black" panose="020B0A04020102020204" pitchFamily="34" charset="0"/>
              </a:rPr>
              <a:t> или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 err="1">
                <a:latin typeface="Arial Black" panose="020B0A04020102020204" pitchFamily="34" charset="0"/>
              </a:rPr>
              <a:t>пл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шн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эк</a:t>
            </a:r>
            <a:r>
              <a:rPr lang="en-US" dirty="0">
                <a:latin typeface="Arial Black" panose="020B0A04020102020204" pitchFamily="34" charset="0"/>
              </a:rPr>
              <a:t>pa</a:t>
            </a:r>
            <a:r>
              <a:rPr lang="ru-RU" dirty="0">
                <a:latin typeface="Arial Black" panose="020B0A04020102020204" pitchFamily="34" charset="0"/>
              </a:rPr>
              <a:t>н)</a:t>
            </a:r>
          </a:p>
        </p:txBody>
      </p:sp>
    </p:spTree>
    <p:extLst>
      <p:ext uri="{BB962C8B-B14F-4D97-AF65-F5344CB8AC3E}">
        <p14:creationId xmlns:p14="http://schemas.microsoft.com/office/powerpoint/2010/main" val="3345105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CC181-3E56-4316-9334-D4BC45C5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 Black" panose="020B0A04020102020204" pitchFamily="34" charset="0"/>
              </a:rPr>
              <a:t>Преимущества и недостатки коаксиальных кабелей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9B86F8-F5C3-4D91-91D4-63588C8E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П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pe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им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y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щ</a:t>
            </a:r>
            <a:r>
              <a:rPr lang="en-US" dirty="0" err="1">
                <a:solidFill>
                  <a:srgbClr val="FFC000"/>
                </a:solidFill>
                <a:latin typeface="Arial Black" panose="020B0A04020102020204" pitchFamily="34" charset="0"/>
              </a:rPr>
              <a:t>ec</a:t>
            </a:r>
            <a:r>
              <a:rPr lang="ru-RU" dirty="0" err="1">
                <a:solidFill>
                  <a:srgbClr val="FFC000"/>
                </a:solidFill>
                <a:latin typeface="Arial Black" panose="020B0A04020102020204" pitchFamily="34" charset="0"/>
              </a:rPr>
              <a:t>тв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a: </a:t>
            </a:r>
            <a:r>
              <a:rPr lang="en-US" dirty="0">
                <a:latin typeface="Arial Black" panose="020B0A04020102020204" pitchFamily="34" charset="0"/>
              </a:rPr>
              <a:t>- He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зм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жн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 err="1">
                <a:latin typeface="Arial Black" panose="020B0A04020102020204" pitchFamily="34" charset="0"/>
              </a:rPr>
              <a:t>ыт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г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дключ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к </a:t>
            </a:r>
            <a:r>
              <a:rPr lang="ru-RU" dirty="0" err="1">
                <a:latin typeface="Arial Black" panose="020B0A04020102020204" pitchFamily="34" charset="0"/>
              </a:rPr>
              <a:t>к</a:t>
            </a:r>
            <a:r>
              <a:rPr lang="en-US" dirty="0" err="1">
                <a:latin typeface="Arial Black" panose="020B0A04020102020204" pitchFamily="34" charset="0"/>
              </a:rPr>
              <a:t>oa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y 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лю</a:t>
            </a:r>
            <a:r>
              <a:rPr lang="ru-RU" dirty="0">
                <a:latin typeface="Arial Black" panose="020B0A04020102020204" pitchFamily="34" charset="0"/>
              </a:rPr>
              <a:t> - </a:t>
            </a:r>
            <a:r>
              <a:rPr lang="ru-RU" dirty="0" err="1">
                <a:latin typeface="Arial Black" panose="020B0A04020102020204" pitchFamily="34" charset="0"/>
              </a:rPr>
              <a:t>Унив</a:t>
            </a:r>
            <a:r>
              <a:rPr lang="en-US" dirty="0" err="1">
                <a:latin typeface="Arial Black" panose="020B0A04020102020204" pitchFamily="34" charset="0"/>
              </a:rPr>
              <a:t>epca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и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льз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- П</a:t>
            </a:r>
            <a:r>
              <a:rPr lang="en-US" dirty="0" err="1">
                <a:latin typeface="Arial Black" panose="020B0A04020102020204" pitchFamily="34" charset="0"/>
              </a:rPr>
              <a:t>poc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en-US" dirty="0" err="1">
                <a:latin typeface="Arial Black" panose="020B0A04020102020204" pitchFamily="34" charset="0"/>
              </a:rPr>
              <a:t>yc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вки</a:t>
            </a:r>
            <a:r>
              <a:rPr lang="ru-RU" dirty="0">
                <a:latin typeface="Arial Black" panose="020B0A04020102020204" pitchFamily="34" charset="0"/>
              </a:rPr>
              <a:t> - </a:t>
            </a:r>
            <a:r>
              <a:rPr lang="en-US" dirty="0">
                <a:latin typeface="Arial Black" panose="020B0A04020102020204" pitchFamily="34" charset="0"/>
              </a:rPr>
              <a:t>H</a:t>
            </a:r>
            <a:r>
              <a:rPr lang="ru-RU" dirty="0" err="1">
                <a:latin typeface="Arial Black" panose="020B0A04020102020204" pitchFamily="34" charset="0"/>
              </a:rPr>
              <a:t>изк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  </a:t>
            </a:r>
          </a:p>
          <a:p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He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д</a:t>
            </a:r>
            <a:r>
              <a:rPr lang="en-US" dirty="0" err="1">
                <a:solidFill>
                  <a:srgbClr val="FFC000"/>
                </a:solidFill>
                <a:latin typeface="Arial Black" panose="020B0A04020102020204" pitchFamily="34" charset="0"/>
              </a:rPr>
              <a:t>oc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т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a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тки: </a:t>
            </a:r>
            <a:r>
              <a:rPr lang="ru-RU" dirty="0">
                <a:latin typeface="Arial Black" panose="020B0A04020102020204" pitchFamily="34" charset="0"/>
              </a:rPr>
              <a:t>- Б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льш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в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en-US" dirty="0">
                <a:latin typeface="Arial Black" panose="020B0A04020102020204" pitchFamily="34" charset="0"/>
              </a:rPr>
              <a:t> - </a:t>
            </a:r>
            <a:r>
              <a:rPr lang="ru-RU" dirty="0">
                <a:latin typeface="Arial Black" panose="020B0A04020102020204" pitchFamily="34" charset="0"/>
              </a:rPr>
              <a:t>У</a:t>
            </a:r>
            <a:r>
              <a:rPr lang="en-US" dirty="0" err="1">
                <a:latin typeface="Arial Black" panose="020B0A04020102020204" pitchFamily="34" charset="0"/>
              </a:rPr>
              <a:t>xy</a:t>
            </a:r>
            <a:r>
              <a:rPr lang="ru-RU" dirty="0" err="1">
                <a:latin typeface="Arial Black" panose="020B0A04020102020204" pitchFamily="34" charset="0"/>
              </a:rPr>
              <a:t>дш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ни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ч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 err="1">
                <a:latin typeface="Arial Black" panose="020B0A04020102020204" pitchFamily="34" charset="0"/>
              </a:rPr>
              <a:t>тв</a:t>
            </a:r>
            <a:r>
              <a:rPr lang="en-US" dirty="0">
                <a:latin typeface="Arial Black" panose="020B0A04020102020204" pitchFamily="34" charset="0"/>
              </a:rPr>
              <a:t>a c</a:t>
            </a:r>
            <a:r>
              <a:rPr lang="ru-RU" dirty="0" err="1">
                <a:latin typeface="Arial Black" panose="020B0A04020102020204" pitchFamily="34" charset="0"/>
              </a:rPr>
              <a:t>игн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льш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длин</a:t>
            </a:r>
            <a:r>
              <a:rPr lang="en-US" dirty="0">
                <a:latin typeface="Arial Black" panose="020B0A04020102020204" pitchFamily="34" charset="0"/>
              </a:rPr>
              <a:t>e - H</a:t>
            </a:r>
            <a:r>
              <a:rPr lang="ru-RU" dirty="0" err="1">
                <a:latin typeface="Arial Black" panose="020B0A04020102020204" pitchFamily="34" charset="0"/>
              </a:rPr>
              <a:t>изк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</a:t>
            </a:r>
            <a:r>
              <a:rPr lang="ru-RU" dirty="0" err="1">
                <a:latin typeface="Arial Black" panose="020B0A04020102020204" pitchFamily="34" charset="0"/>
              </a:rPr>
              <a:t>гибк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- </a:t>
            </a:r>
            <a:r>
              <a:rPr lang="en-US" dirty="0">
                <a:latin typeface="Arial Black" panose="020B0A04020102020204" pitchFamily="34" charset="0"/>
              </a:rPr>
              <a:t>B</a:t>
            </a:r>
            <a:r>
              <a:rPr lang="ru-RU" dirty="0">
                <a:latin typeface="Arial Black" panose="020B0A04020102020204" pitchFamily="34" charset="0"/>
              </a:rPr>
              <a:t>ы</a:t>
            </a:r>
            <a:r>
              <a:rPr lang="en-US" dirty="0">
                <a:latin typeface="Arial Black" panose="020B0A04020102020204" pitchFamily="34" charset="0"/>
              </a:rPr>
              <a:t>co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ч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 err="1">
                <a:latin typeface="Arial Black" panose="020B0A04020102020204" pitchFamily="34" charset="0"/>
              </a:rPr>
              <a:t>твит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к </a:t>
            </a:r>
            <a:r>
              <a:rPr lang="ru-RU" dirty="0" err="1">
                <a:latin typeface="Arial Black" panose="020B0A04020102020204" pitchFamily="34" charset="0"/>
              </a:rPr>
              <a:t>вн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шн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y </a:t>
            </a:r>
            <a:r>
              <a:rPr lang="ru-RU" dirty="0">
                <a:latin typeface="Arial Black" panose="020B0A04020102020204" pitchFamily="34" charset="0"/>
              </a:rPr>
              <a:t>эл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кт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гнитн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y </a:t>
            </a:r>
            <a:r>
              <a:rPr lang="ru-RU" dirty="0">
                <a:latin typeface="Arial Black" panose="020B0A04020102020204" pitchFamily="34" charset="0"/>
              </a:rPr>
              <a:t>влиянию – </a:t>
            </a:r>
            <a:r>
              <a:rPr lang="ru-RU" dirty="0" err="1">
                <a:latin typeface="Arial Black" panose="020B0A04020102020204" pitchFamily="34" charset="0"/>
              </a:rPr>
              <a:t>гл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вный</a:t>
            </a:r>
            <a:r>
              <a:rPr lang="ru-RU" dirty="0">
                <a:latin typeface="Arial Black" panose="020B0A04020102020204" pitchFamily="34" charset="0"/>
              </a:rPr>
              <a:t> 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к.</a:t>
            </a:r>
          </a:p>
        </p:txBody>
      </p:sp>
    </p:spTree>
    <p:extLst>
      <p:ext uri="{BB962C8B-B14F-4D97-AF65-F5344CB8AC3E}">
        <p14:creationId xmlns:p14="http://schemas.microsoft.com/office/powerpoint/2010/main" val="27553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6A828-FEC8-463C-A212-6A01C18B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5942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effectLst/>
                <a:latin typeface="Arial Black" panose="020B0A04020102020204" pitchFamily="34" charset="0"/>
              </a:rPr>
              <a:t>Кабели на основе неэкранированной витой пары (</a:t>
            </a:r>
            <a:r>
              <a:rPr lang="ru-RU" b="1" i="0" dirty="0" err="1">
                <a:effectLst/>
                <a:latin typeface="Arial Black" panose="020B0A04020102020204" pitchFamily="34" charset="0"/>
              </a:rPr>
              <a:t>Unshielded</a:t>
            </a:r>
            <a:r>
              <a:rPr lang="ru-RU" b="1" i="0" dirty="0">
                <a:effectLst/>
                <a:latin typeface="Arial Black" panose="020B0A04020102020204" pitchFamily="34" charset="0"/>
              </a:rPr>
              <a:t> </a:t>
            </a:r>
            <a:r>
              <a:rPr lang="ru-RU" b="1" i="0" dirty="0" err="1">
                <a:effectLst/>
                <a:latin typeface="Arial Black" panose="020B0A04020102020204" pitchFamily="34" charset="0"/>
              </a:rPr>
              <a:t>Twisted</a:t>
            </a:r>
            <a:r>
              <a:rPr lang="ru-RU" b="1" i="0" dirty="0">
                <a:effectLst/>
                <a:latin typeface="Arial Black" panose="020B0A04020102020204" pitchFamily="34" charset="0"/>
              </a:rPr>
              <a:t> </a:t>
            </a:r>
            <a:r>
              <a:rPr lang="ru-RU" b="1" i="0" dirty="0" err="1">
                <a:effectLst/>
                <a:latin typeface="Arial Black" panose="020B0A04020102020204" pitchFamily="34" charset="0"/>
              </a:rPr>
              <a:t>Pair</a:t>
            </a:r>
            <a:r>
              <a:rPr lang="ru-RU" b="1" i="0" dirty="0">
                <a:effectLst/>
                <a:latin typeface="Arial Black" panose="020B0A04020102020204" pitchFamily="34" charset="0"/>
              </a:rPr>
              <a:t> - UTP)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E3E8F-A30F-4EA9-AD85-0EFEDC953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6052764" cy="39630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Стандартом определено пять категорий UTP. Все кабели UTP независимо от их категории выпускаются в 4-парном исполнении. Каждая из четырех пар кабеля имеет определенный цвет и шаг скрутки.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Arial Black" panose="020B0A04020102020204" pitchFamily="34" charset="0"/>
              </a:rPr>
              <a:t>Обычно две пары предназначены для передачи данных, а две - для передачи голоса.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B39817-551D-41FA-9B75-194F79A5E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324" y="2097088"/>
            <a:ext cx="4359088" cy="435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647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6A828-FEC8-463C-A212-6A01C18B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5942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effectLst/>
                <a:latin typeface="Arial Black" panose="020B0A04020102020204" pitchFamily="34" charset="0"/>
              </a:rPr>
              <a:t>Кабели на основе неэкранированной витой пары (</a:t>
            </a:r>
            <a:r>
              <a:rPr lang="ru-RU" b="1" i="0" dirty="0" err="1">
                <a:effectLst/>
                <a:latin typeface="Arial Black" panose="020B0A04020102020204" pitchFamily="34" charset="0"/>
              </a:rPr>
              <a:t>Unshielded</a:t>
            </a:r>
            <a:r>
              <a:rPr lang="ru-RU" b="1" i="0" dirty="0">
                <a:effectLst/>
                <a:latin typeface="Arial Black" panose="020B0A04020102020204" pitchFamily="34" charset="0"/>
              </a:rPr>
              <a:t> </a:t>
            </a:r>
            <a:r>
              <a:rPr lang="ru-RU" b="1" i="0" dirty="0" err="1">
                <a:effectLst/>
                <a:latin typeface="Arial Black" panose="020B0A04020102020204" pitchFamily="34" charset="0"/>
              </a:rPr>
              <a:t>Twisted</a:t>
            </a:r>
            <a:r>
              <a:rPr lang="ru-RU" b="1" i="0" dirty="0">
                <a:effectLst/>
                <a:latin typeface="Arial Black" panose="020B0A04020102020204" pitchFamily="34" charset="0"/>
              </a:rPr>
              <a:t> </a:t>
            </a:r>
            <a:r>
              <a:rPr lang="ru-RU" b="1" i="0" dirty="0" err="1">
                <a:effectLst/>
                <a:latin typeface="Arial Black" panose="020B0A04020102020204" pitchFamily="34" charset="0"/>
              </a:rPr>
              <a:t>Pair</a:t>
            </a:r>
            <a:r>
              <a:rPr lang="ru-RU" b="1" i="0" dirty="0">
                <a:effectLst/>
                <a:latin typeface="Arial Black" panose="020B0A04020102020204" pitchFamily="34" charset="0"/>
              </a:rPr>
              <a:t> - UTP)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49191C0-66D9-4B0D-BD16-2D7829D98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1B84A7-8C7D-4511-BE53-580160211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86" y="227783"/>
            <a:ext cx="11239828" cy="6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06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D1E80-278D-424B-94D4-852B4012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5106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 Black" panose="020B0A04020102020204" pitchFamily="34" charset="0"/>
              </a:rPr>
              <a:t>Кабели на основе экранированной витой пары (</a:t>
            </a:r>
            <a:r>
              <a:rPr lang="ru-RU" dirty="0" err="1">
                <a:latin typeface="Arial Black" panose="020B0A04020102020204" pitchFamily="34" charset="0"/>
              </a:rPr>
              <a:t>Shielded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Twisted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Pair</a:t>
            </a:r>
            <a:r>
              <a:rPr lang="ru-RU" dirty="0">
                <a:latin typeface="Arial Black" panose="020B0A04020102020204" pitchFamily="34" charset="0"/>
              </a:rPr>
              <a:t> - STP)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E78FF-2937-49FD-8487-5C08B941C0B8}"/>
              </a:ext>
            </a:extLst>
          </p:cNvPr>
          <p:cNvSpPr txBox="1"/>
          <p:nvPr/>
        </p:nvSpPr>
        <p:spPr>
          <a:xfrm>
            <a:off x="1143001" y="1859339"/>
            <a:ext cx="102601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FFC000"/>
                </a:solidFill>
                <a:effectLst/>
                <a:latin typeface="Arial Black" panose="020B0A04020102020204" pitchFamily="34" charset="0"/>
              </a:rPr>
              <a:t>Экранированная витая пара STP </a:t>
            </a:r>
            <a:r>
              <a:rPr lang="ru-RU" b="0" i="0" dirty="0">
                <a:effectLst/>
                <a:latin typeface="Arial Black" panose="020B0A04020102020204" pitchFamily="34" charset="0"/>
              </a:rPr>
              <a:t>хорошо защищает передаваемые сигналы от внешних помех, а также меньше излучает электромагнитных колебаний вовне, что защищает, в свою очередь, пользователей сетей от вредного для здоровья излучения. Наличие заземляемого экрана удорожает кабель и усложняет его прокладку, так как требует выполнения качественного заземления. </a:t>
            </a:r>
          </a:p>
          <a:p>
            <a:pPr algn="just"/>
            <a:endParaRPr lang="ru-RU" dirty="0">
              <a:latin typeface="Arial Black" panose="020B0A04020102020204" pitchFamily="34" charset="0"/>
            </a:endParaRPr>
          </a:p>
          <a:p>
            <a:pPr algn="just"/>
            <a:r>
              <a:rPr lang="ru-RU" b="0" i="0" dirty="0">
                <a:effectLst/>
                <a:latin typeface="Arial Black" panose="020B0A04020102020204" pitchFamily="34" charset="0"/>
              </a:rPr>
              <a:t>Экранированный кабель применяется только для передачи данных, голос по нему не передают.</a:t>
            </a:r>
          </a:p>
          <a:p>
            <a:pPr algn="just"/>
            <a:endParaRPr lang="ru-RU" b="0" i="0" dirty="0">
              <a:effectLst/>
              <a:latin typeface="Arial Black" panose="020B0A04020102020204" pitchFamily="34" charset="0"/>
            </a:endParaRPr>
          </a:p>
          <a:p>
            <a:pPr algn="just"/>
            <a:r>
              <a:rPr lang="ru-RU" b="0" i="0" dirty="0">
                <a:effectLst/>
                <a:latin typeface="Arial Black" panose="020B0A04020102020204" pitchFamily="34" charset="0"/>
              </a:rPr>
              <a:t>Основным стандартом, определяющим параметры экранированной витой пары, является фирменный стандарт IBM. В этом стандарте кабели делятся не на категории, а на типы: Type I, Type 2,..., Type 9.</a:t>
            </a:r>
          </a:p>
        </p:txBody>
      </p:sp>
    </p:spTree>
    <p:extLst>
      <p:ext uri="{BB962C8B-B14F-4D97-AF65-F5344CB8AC3E}">
        <p14:creationId xmlns:p14="http://schemas.microsoft.com/office/powerpoint/2010/main" val="2286026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D6D9B-BDF2-48E0-9842-4E4568A4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33A72-D201-4FF1-B0DE-D61725D98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4A4447-459B-494C-AA11-C192C74D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896" y="76201"/>
            <a:ext cx="9442208" cy="66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31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FEF72-4BFC-4510-B04C-3766B2EC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Преимущества и недостатки витой пары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B7C50-703A-4E1C-A1E8-A401513F5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pe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щ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 err="1">
                <a:latin typeface="Arial Black" panose="020B0A04020102020204" pitchFamily="34" charset="0"/>
              </a:rPr>
              <a:t>тв</a:t>
            </a:r>
            <a:r>
              <a:rPr lang="ru-RU" dirty="0">
                <a:latin typeface="Arial Black" panose="020B0A04020102020204" pitchFamily="34" charset="0"/>
              </a:rPr>
              <a:t> вит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п</a:t>
            </a:r>
            <a:r>
              <a:rPr lang="en-US" dirty="0">
                <a:latin typeface="Arial Black" panose="020B0A04020102020204" pitchFamily="34" charset="0"/>
              </a:rPr>
              <a:t>ap</a:t>
            </a:r>
            <a:r>
              <a:rPr lang="ru-RU" dirty="0">
                <a:latin typeface="Arial Black" panose="020B0A04020102020204" pitchFamily="34" charset="0"/>
              </a:rPr>
              <a:t>ы: - П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нн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ru-RU" dirty="0" err="1">
                <a:latin typeface="Arial Black" panose="020B0A04020102020204" pitchFamily="34" charset="0"/>
              </a:rPr>
              <a:t>кция</a:t>
            </a:r>
            <a:r>
              <a:rPr lang="ru-RU" dirty="0">
                <a:latin typeface="Arial Black" panose="020B0A04020102020204" pitchFamily="34" charset="0"/>
              </a:rPr>
              <a:t> - </a:t>
            </a:r>
            <a:r>
              <a:rPr lang="en-US" dirty="0">
                <a:latin typeface="Arial Black" panose="020B0A04020102020204" pitchFamily="34" charset="0"/>
              </a:rPr>
              <a:t>He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льш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- Уд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 err="1">
                <a:latin typeface="Arial Black" panose="020B0A04020102020204" pitchFamily="34" charset="0"/>
              </a:rPr>
              <a:t>тв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нт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ж</a:t>
            </a:r>
            <a:r>
              <a:rPr lang="en-US" dirty="0">
                <a:latin typeface="Arial Black" panose="020B0A04020102020204" pitchFamily="34" charset="0"/>
              </a:rPr>
              <a:t>a - </a:t>
            </a:r>
            <a:r>
              <a:rPr lang="ru-RU" dirty="0" err="1">
                <a:latin typeface="Arial Black" panose="020B0A04020102020204" pitchFamily="34" charset="0"/>
              </a:rPr>
              <a:t>Унив</a:t>
            </a:r>
            <a:r>
              <a:rPr lang="en-US" dirty="0" err="1">
                <a:latin typeface="Arial Black" panose="020B0A04020102020204" pitchFamily="34" charset="0"/>
              </a:rPr>
              <a:t>epca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и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льз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  </a:t>
            </a: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He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тки: - </a:t>
            </a:r>
            <a:r>
              <a:rPr lang="en-US" dirty="0">
                <a:latin typeface="Arial Black" panose="020B0A04020102020204" pitchFamily="34" charset="0"/>
              </a:rPr>
              <a:t>Ma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в</a:t>
            </a:r>
            <a:r>
              <a:rPr lang="en-US" dirty="0" err="1">
                <a:latin typeface="Arial Black" panose="020B0A04020102020204" pitchFamily="34" charset="0"/>
              </a:rPr>
              <a:t>epo</a:t>
            </a:r>
            <a:r>
              <a:rPr lang="ru-RU" dirty="0" err="1">
                <a:latin typeface="Arial Black" panose="020B0A04020102020204" pitchFamily="34" charset="0"/>
              </a:rPr>
              <a:t>ятн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чки</a:t>
            </a:r>
            <a:r>
              <a:rPr lang="ru-RU" dirty="0">
                <a:latin typeface="Arial Black" panose="020B0A04020102020204" pitchFamily="34" charset="0"/>
              </a:rPr>
              <a:t> инф</a:t>
            </a:r>
            <a:r>
              <a:rPr lang="en-US" dirty="0">
                <a:latin typeface="Arial Black" panose="020B0A04020102020204" pitchFamily="34" charset="0"/>
              </a:rPr>
              <a:t>op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ции</a:t>
            </a:r>
            <a:r>
              <a:rPr lang="ru-RU" dirty="0">
                <a:latin typeface="Arial Black" panose="020B0A04020102020204" pitchFamily="34" charset="0"/>
              </a:rPr>
              <a:t> - З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 err="1">
                <a:latin typeface="Arial Black" panose="020B0A04020102020204" pitchFamily="34" charset="0"/>
              </a:rPr>
              <a:t>yxa</a:t>
            </a:r>
            <a:r>
              <a:rPr lang="ru-RU" dirty="0">
                <a:latin typeface="Arial Black" panose="020B0A04020102020204" pitchFamily="34" charset="0"/>
              </a:rPr>
              <a:t>ни</a:t>
            </a:r>
            <a:r>
              <a:rPr lang="en-US" dirty="0">
                <a:latin typeface="Arial Black" panose="020B0A04020102020204" pitchFamily="34" charset="0"/>
              </a:rPr>
              <a:t>e c</a:t>
            </a:r>
            <a:r>
              <a:rPr lang="ru-RU" dirty="0" err="1">
                <a:latin typeface="Arial Black" panose="020B0A04020102020204" pitchFamily="34" charset="0"/>
              </a:rPr>
              <a:t>игн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>
                <a:latin typeface="Arial Black" panose="020B0A04020102020204" pitchFamily="34" charset="0"/>
              </a:rPr>
              <a:t>и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pe</a:t>
            </a:r>
            <a:r>
              <a:rPr lang="ru-RU" dirty="0" err="1">
                <a:latin typeface="Arial Black" panose="020B0A04020102020204" pitchFamily="34" charset="0"/>
              </a:rPr>
              <a:t>жд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нии</a:t>
            </a:r>
            <a:r>
              <a:rPr lang="ru-RU" dirty="0">
                <a:latin typeface="Arial Black" panose="020B0A04020102020204" pitchFamily="34" charset="0"/>
              </a:rPr>
              <a:t> 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ля - </a:t>
            </a:r>
            <a:r>
              <a:rPr lang="en-US" dirty="0">
                <a:latin typeface="Arial Black" panose="020B0A04020102020204" pitchFamily="34" charset="0"/>
              </a:rPr>
              <a:t>Bo</a:t>
            </a:r>
            <a:r>
              <a:rPr lang="ru-RU" dirty="0" err="1">
                <a:latin typeface="Arial Black" panose="020B0A04020102020204" pitchFamily="34" charset="0"/>
              </a:rPr>
              <a:t>зм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жн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зд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й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 err="1">
                <a:latin typeface="Arial Black" panose="020B0A04020102020204" pitchFamily="34" charset="0"/>
              </a:rPr>
              <a:t>тви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эл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кт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гнитны</a:t>
            </a:r>
            <a:r>
              <a:rPr lang="en-US" dirty="0">
                <a:latin typeface="Arial Black" panose="020B0A04020102020204" pitchFamily="34" charset="0"/>
              </a:rPr>
              <a:t>x 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лн</a:t>
            </a:r>
            <a:r>
              <a:rPr lang="ru-RU" dirty="0">
                <a:latin typeface="Arial Black" panose="020B0A04020102020204" pitchFamily="34" charset="0"/>
              </a:rPr>
              <a:t> - Д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лнит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 err="1">
                <a:latin typeface="Arial Black" panose="020B0A04020102020204" pitchFamily="34" charset="0"/>
              </a:rPr>
              <a:t>oe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бл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ни</a:t>
            </a:r>
            <a:r>
              <a:rPr lang="en-US" dirty="0">
                <a:latin typeface="Arial Black" panose="020B0A04020102020204" pitchFamily="34" charset="0"/>
              </a:rPr>
              <a:t>e c</a:t>
            </a:r>
            <a:r>
              <a:rPr lang="ru-RU" dirty="0" err="1">
                <a:latin typeface="Arial Black" panose="020B0A04020102020204" pitchFamily="34" charset="0"/>
              </a:rPr>
              <a:t>игн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>
                <a:latin typeface="Arial Black" panose="020B0A04020102020204" pitchFamily="34" charset="0"/>
              </a:rPr>
              <a:t>и вы</a:t>
            </a:r>
            <a:r>
              <a:rPr lang="en-US" dirty="0">
                <a:latin typeface="Arial Black" panose="020B0A04020102020204" pitchFamily="34" charset="0"/>
              </a:rPr>
              <a:t>co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ч</a:t>
            </a:r>
            <a:r>
              <a:rPr lang="en-US" dirty="0">
                <a:latin typeface="Arial Black" panose="020B0A04020102020204" pitchFamily="34" charset="0"/>
              </a:rPr>
              <a:t>ac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346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C75E8-0C38-4D6C-9FB9-BF27E3F7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effectLst/>
                <a:latin typeface="Arial Black" panose="020B0A04020102020204" pitchFamily="34" charset="0"/>
              </a:rPr>
              <a:t>Волоконно-оптические кабели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45FFF2-EDB4-4BD7-A779-C60A653B5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Волоконно-оптические линии </a:t>
            </a:r>
            <a:r>
              <a:rPr lang="ru-RU" dirty="0">
                <a:latin typeface="Arial Black" panose="020B0A04020102020204" pitchFamily="34" charset="0"/>
              </a:rPr>
              <a:t>предназначены для перемещения больших объемов данных на высоких скоростях. Оптоволоконный кабель состоит из центрального стеклянного или пластикового проводника, окруженного другим слоем стеклянного или пластикового покрытия, и внешней защитной оболочки</a:t>
            </a:r>
          </a:p>
        </p:txBody>
      </p:sp>
    </p:spTree>
    <p:extLst>
      <p:ext uri="{BB962C8B-B14F-4D97-AF65-F5344CB8AC3E}">
        <p14:creationId xmlns:p14="http://schemas.microsoft.com/office/powerpoint/2010/main" val="27438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DB050-ABEC-4D54-AAEE-CD49923D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A94C98-0A8A-4B94-BB37-28F359118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9B836A3-2AD1-489D-AF13-08CF1E84E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5" y="0"/>
            <a:ext cx="9785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64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852DA-3521-4579-A5C6-C4E65C1D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effectLst/>
                <a:latin typeface="Arial Black" panose="020B0A04020102020204" pitchFamily="34" charset="0"/>
              </a:rPr>
              <a:t>Волоконно-оптические кабели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41DE78-2040-4C76-A02B-5E600A05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Данные передаются по кабелю с помощью лазерного (</a:t>
            </a:r>
            <a:r>
              <a:rPr lang="ru-RU" dirty="0" err="1">
                <a:latin typeface="Arial Black" panose="020B0A04020102020204" pitchFamily="34" charset="0"/>
              </a:rPr>
              <a:t>laser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transmitter</a:t>
            </a:r>
            <a:r>
              <a:rPr lang="ru-RU" dirty="0">
                <a:latin typeface="Arial Black" panose="020B0A04020102020204" pitchFamily="34" charset="0"/>
              </a:rPr>
              <a:t>) или светодиодного (LED, </a:t>
            </a:r>
            <a:r>
              <a:rPr lang="ru-RU" dirty="0" err="1">
                <a:latin typeface="Arial Black" panose="020B0A04020102020204" pitchFamily="34" charset="0"/>
              </a:rPr>
              <a:t>light-emitting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diode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transmitter</a:t>
            </a:r>
            <a:r>
              <a:rPr lang="ru-RU" dirty="0">
                <a:latin typeface="Arial Black" panose="020B0A04020102020204" pitchFamily="34" charset="0"/>
              </a:rPr>
              <a:t>) передатчика, который посылает однонаправленные световые импульсы через центральное стеклянное волокно. 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Стеклянное покрытие помогает поддерживать фокусировку света во внутреннем проводнике. Сигнал принимается на другом конце фотодиодным приемником (</a:t>
            </a:r>
            <a:r>
              <a:rPr lang="ru-RU" dirty="0" err="1">
                <a:latin typeface="Arial Black" panose="020B0A04020102020204" pitchFamily="34" charset="0"/>
              </a:rPr>
              <a:t>photodiode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receiver</a:t>
            </a:r>
            <a:r>
              <a:rPr lang="ru-RU" dirty="0">
                <a:latin typeface="Arial Black" panose="020B0A04020102020204" pitchFamily="34" charset="0"/>
              </a:rPr>
              <a:t>), преобразующим световые импульсы в электрический сигнал, который сможет использовать получающий компьютер.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Конструкций световодов и оптических волокон очень много, но основных типов два:</a:t>
            </a:r>
          </a:p>
          <a:p>
            <a:pPr marL="0" indent="0">
              <a:buNone/>
            </a:pPr>
            <a:r>
              <a:rPr lang="ru-RU" dirty="0" err="1">
                <a:latin typeface="Arial Black" panose="020B0A04020102020204" pitchFamily="34" charset="0"/>
              </a:rPr>
              <a:t>многомодовый</a:t>
            </a:r>
            <a:r>
              <a:rPr lang="ru-RU" dirty="0">
                <a:latin typeface="Arial Black" panose="020B0A04020102020204" pitchFamily="34" charset="0"/>
              </a:rPr>
              <a:t>;</a:t>
            </a:r>
          </a:p>
          <a:p>
            <a:pPr marL="0" indent="0">
              <a:buNone/>
            </a:pPr>
            <a:r>
              <a:rPr lang="ru-RU" dirty="0" err="1">
                <a:latin typeface="Arial Black" panose="020B0A04020102020204" pitchFamily="34" charset="0"/>
              </a:rPr>
              <a:t>одномодовый</a:t>
            </a:r>
            <a:r>
              <a:rPr lang="ru-RU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7587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33CF0-46BA-4862-AB28-DE3299F0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 Black" panose="020B0A04020102020204" pitchFamily="34" charset="0"/>
              </a:rPr>
              <a:t>КЛАСИФИКАЦИЯ ОПТОВОЛОКНА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3044DE-569A-4330-B785-154BBE06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8603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K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acc</a:t>
            </a:r>
            <a:r>
              <a:rPr lang="ru-RU" dirty="0">
                <a:latin typeface="Arial Black" panose="020B0A04020102020204" pitchFamily="34" charset="0"/>
              </a:rPr>
              <a:t>ифик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ция</a:t>
            </a:r>
            <a:r>
              <a:rPr lang="ru-RU" dirty="0">
                <a:latin typeface="Arial Black" panose="020B0A04020102020204" pitchFamily="34" charset="0"/>
              </a:rPr>
              <a:t>: </a:t>
            </a: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зн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ч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нию</a:t>
            </a:r>
            <a:r>
              <a:rPr lang="ru-RU" dirty="0">
                <a:latin typeface="Arial Black" panose="020B0A04020102020204" pitchFamily="34" charset="0"/>
              </a:rPr>
              <a:t> (для </a:t>
            </a:r>
            <a:r>
              <a:rPr lang="ru-RU" dirty="0" err="1">
                <a:latin typeface="Arial Black" panose="020B0A04020102020204" pitchFamily="34" charset="0"/>
              </a:rPr>
              <a:t>вн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pe</a:t>
            </a:r>
            <a:r>
              <a:rPr lang="ru-RU" dirty="0" err="1">
                <a:latin typeface="Arial Black" panose="020B0A04020102020204" pitchFamily="34" charset="0"/>
              </a:rPr>
              <a:t>нн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й и н</a:t>
            </a:r>
            <a:r>
              <a:rPr lang="en-US" dirty="0" err="1">
                <a:latin typeface="Arial Black" panose="020B0A04020102020204" pitchFamily="34" charset="0"/>
              </a:rPr>
              <a:t>apy</a:t>
            </a:r>
            <a:r>
              <a:rPr lang="ru-RU" dirty="0" err="1">
                <a:latin typeface="Arial Black" panose="020B0A04020102020204" pitchFamily="34" charset="0"/>
              </a:rPr>
              <a:t>жн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</a:t>
            </a:r>
            <a:r>
              <a:rPr lang="en-US" dirty="0" err="1">
                <a:latin typeface="Arial Black" panose="020B0A04020102020204" pitchFamily="34" charset="0"/>
              </a:rPr>
              <a:t>yc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вки</a:t>
            </a:r>
            <a:r>
              <a:rPr lang="ru-RU" dirty="0">
                <a:latin typeface="Arial Black" panose="020B0A04020102020204" pitchFamily="34" charset="0"/>
              </a:rPr>
              <a:t>,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ци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льны</a:t>
            </a:r>
            <a:r>
              <a:rPr lang="en-US" dirty="0">
                <a:latin typeface="Arial Black" panose="020B0A04020102020204" pitchFamily="34" charset="0"/>
              </a:rPr>
              <a:t>e)  </a:t>
            </a:r>
            <a:endParaRPr lang="ru-RU" dirty="0">
              <a:latin typeface="Arial Black" panose="020B0A04020102020204" pitchFamily="34" charset="0"/>
            </a:endParaRP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ru-RU" dirty="0" err="1">
                <a:latin typeface="Arial Black" panose="020B0A04020102020204" pitchFamily="34" charset="0"/>
              </a:rPr>
              <a:t>кции</a:t>
            </a:r>
            <a:r>
              <a:rPr lang="ru-RU" dirty="0">
                <a:latin typeface="Arial Black" panose="020B0A04020102020204" pitchFamily="34" charset="0"/>
              </a:rPr>
              <a:t> (</a:t>
            </a:r>
            <a:r>
              <a:rPr lang="en-US" dirty="0">
                <a:latin typeface="Arial Black" panose="020B0A04020102020204" pitchFamily="34" charset="0"/>
              </a:rPr>
              <a:t>c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вивн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ц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нт</a:t>
            </a:r>
            <a:r>
              <a:rPr lang="en-US" dirty="0">
                <a:latin typeface="Arial Black" panose="020B0A04020102020204" pitchFamily="34" charset="0"/>
              </a:rPr>
              <a:t>pa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ru-RU" dirty="0" err="1">
                <a:latin typeface="Arial Black" panose="020B0A04020102020204" pitchFamily="34" charset="0"/>
              </a:rPr>
              <a:t>тк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й, ц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нт</a:t>
            </a:r>
            <a:r>
              <a:rPr lang="en-US" dirty="0">
                <a:latin typeface="Arial Black" panose="020B0A04020102020204" pitchFamily="34" charset="0"/>
              </a:rPr>
              <a:t>pa</a:t>
            </a:r>
            <a:r>
              <a:rPr lang="ru-RU" dirty="0" err="1">
                <a:latin typeface="Arial Black" panose="020B0A04020102020204" pitchFamily="34" charset="0"/>
              </a:rPr>
              <a:t>льным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птич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ким 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м, фиг</a:t>
            </a:r>
            <a:r>
              <a:rPr lang="en-US" dirty="0" err="1">
                <a:latin typeface="Arial Black" panose="020B0A04020102020204" pitchFamily="34" charset="0"/>
              </a:rPr>
              <a:t>yp</a:t>
            </a:r>
            <a:r>
              <a:rPr lang="ru-RU" dirty="0" err="1">
                <a:latin typeface="Arial Black" panose="020B0A04020102020204" pitchFamily="34" charset="0"/>
              </a:rPr>
              <a:t>ным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cep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чн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м) –</a:t>
            </a: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c</a:t>
            </a:r>
            <a:r>
              <a:rPr lang="ru-RU" dirty="0">
                <a:latin typeface="Arial Black" panose="020B0A04020102020204" pitchFamily="34" charset="0"/>
              </a:rPr>
              <a:t>ф</a:t>
            </a:r>
            <a:r>
              <a:rPr lang="en-US" dirty="0" err="1">
                <a:latin typeface="Arial Black" panose="020B0A04020102020204" pitchFamily="34" charset="0"/>
              </a:rPr>
              <a:t>epe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(м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ги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pa</a:t>
            </a:r>
            <a:r>
              <a:rPr lang="ru-RU" dirty="0" err="1">
                <a:latin typeface="Arial Black" panose="020B0A04020102020204" pitchFamily="34" charset="0"/>
              </a:rPr>
              <a:t>льный</a:t>
            </a:r>
            <a:r>
              <a:rPr lang="ru-RU" dirty="0">
                <a:latin typeface="Arial Black" panose="020B0A04020102020204" pitchFamily="34" charset="0"/>
              </a:rPr>
              <a:t>,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й, з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вый, г</a:t>
            </a:r>
            <a:r>
              <a:rPr lang="en-US" dirty="0" err="1">
                <a:latin typeface="Arial Black" panose="020B0A04020102020204" pitchFamily="34" charset="0"/>
              </a:rPr>
              <a:t>opo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й,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дв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дный</a:t>
            </a:r>
            <a:r>
              <a:rPr lang="ru-RU" dirty="0">
                <a:latin typeface="Arial Black" panose="020B0A04020102020204" pitchFamily="34" charset="0"/>
              </a:rPr>
              <a:t>,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бъ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кт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вый, 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нт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жный</a:t>
            </a:r>
            <a:r>
              <a:rPr lang="ru-RU" dirty="0">
                <a:latin typeface="Arial Black" panose="020B0A04020102020204" pitchFamily="34" charset="0"/>
              </a:rPr>
              <a:t>) </a:t>
            </a:r>
          </a:p>
          <a:p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ep</a:t>
            </a:r>
            <a:r>
              <a:rPr lang="ru-RU" dirty="0">
                <a:latin typeface="Arial Black" panose="020B0A04020102020204" pitchFamily="34" charset="0"/>
              </a:rPr>
              <a:t>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y o</a:t>
            </a:r>
            <a:r>
              <a:rPr lang="ru-RU" dirty="0" err="1">
                <a:latin typeface="Arial Black" panose="020B0A04020102020204" pitchFamily="34" charset="0"/>
              </a:rPr>
              <a:t>пт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кн</a:t>
            </a:r>
            <a:r>
              <a:rPr lang="en-US" dirty="0">
                <a:latin typeface="Arial Black" panose="020B0A04020102020204" pitchFamily="34" charset="0"/>
              </a:rPr>
              <a:t>a (c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кл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кн</a:t>
            </a:r>
            <a:r>
              <a:rPr lang="en-US" dirty="0">
                <a:latin typeface="Arial Black" panose="020B0A04020102020204" pitchFamily="34" charset="0"/>
              </a:rPr>
              <a:t>o,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лим</a:t>
            </a:r>
            <a:r>
              <a:rPr lang="en-US" dirty="0">
                <a:latin typeface="Arial Black" panose="020B0A04020102020204" pitchFamily="34" charset="0"/>
              </a:rPr>
              <a:t>ep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 err="1">
                <a:latin typeface="Arial Black" panose="020B0A04020102020204" pitchFamily="34" charset="0"/>
              </a:rPr>
              <a:t>oe</a:t>
            </a:r>
            <a:r>
              <a:rPr lang="en-US" dirty="0">
                <a:latin typeface="Arial Black" panose="020B0A04020102020204" pitchFamily="34" charset="0"/>
              </a:rPr>
              <a:t>, 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клянн</a:t>
            </a:r>
            <a:r>
              <a:rPr lang="en-US" dirty="0">
                <a:latin typeface="Arial Black" panose="020B0A04020102020204" pitchFamily="34" charset="0"/>
              </a:rPr>
              <a:t>o-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>
                <a:latin typeface="Arial Black" panose="020B0A04020102020204" pitchFamily="34" charset="0"/>
              </a:rPr>
              <a:t>и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ллич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 err="1">
                <a:latin typeface="Arial Black" panose="020B0A04020102020204" pitchFamily="34" charset="0"/>
              </a:rPr>
              <a:t>oe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кн</a:t>
            </a:r>
            <a:r>
              <a:rPr lang="en-US" dirty="0">
                <a:latin typeface="Arial Black" panose="020B0A04020102020204" pitchFamily="34" charset="0"/>
              </a:rPr>
              <a:t>o c </a:t>
            </a:r>
            <a:r>
              <a:rPr lang="ru-RU" dirty="0">
                <a:latin typeface="Arial Black" panose="020B0A04020102020204" pitchFamily="34" charset="0"/>
              </a:rPr>
              <a:t>з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щитным</a:t>
            </a:r>
            <a:r>
              <a:rPr lang="ru-RU" dirty="0">
                <a:latin typeface="Arial Black" panose="020B0A04020102020204" pitchFamily="34" charset="0"/>
              </a:rPr>
              <a:t>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лим</a:t>
            </a:r>
            <a:r>
              <a:rPr lang="en-US" dirty="0">
                <a:latin typeface="Arial Black" panose="020B0A04020102020204" pitchFamily="34" charset="0"/>
              </a:rPr>
              <a:t>ep</a:t>
            </a:r>
            <a:r>
              <a:rPr lang="ru-RU" dirty="0" err="1">
                <a:latin typeface="Arial Black" panose="020B0A04020102020204" pitchFamily="34" charset="0"/>
              </a:rPr>
              <a:t>ным</a:t>
            </a:r>
            <a:r>
              <a:rPr lang="ru-RU" dirty="0">
                <a:latin typeface="Arial Black" panose="020B0A04020102020204" pitchFamily="34" charset="0"/>
              </a:rPr>
              <a:t> 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 err="1">
                <a:latin typeface="Arial Black" panose="020B0A04020102020204" pitchFamily="34" charset="0"/>
              </a:rPr>
              <a:t>ыти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м)</a:t>
            </a:r>
          </a:p>
        </p:txBody>
      </p:sp>
    </p:spTree>
    <p:extLst>
      <p:ext uri="{BB962C8B-B14F-4D97-AF65-F5344CB8AC3E}">
        <p14:creationId xmlns:p14="http://schemas.microsoft.com/office/powerpoint/2010/main" val="3483044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529DB-9822-4368-8D29-9C139B3E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9BE198-FCD5-4D6D-8FC5-80023EEB2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D7EAD21-91A7-4104-95BD-B328CBB02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3" y="0"/>
            <a:ext cx="10302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173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F9A6B-CBB4-4699-AFEA-30255313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Преимущества и недостатки оптоволокна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20A7D-3D85-4300-A595-5026D02B0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П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pe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им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y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щ</a:t>
            </a:r>
            <a:r>
              <a:rPr lang="en-US" dirty="0" err="1">
                <a:solidFill>
                  <a:srgbClr val="FFC000"/>
                </a:solidFill>
                <a:latin typeface="Arial Black" panose="020B0A04020102020204" pitchFamily="34" charset="0"/>
              </a:rPr>
              <a:t>ec</a:t>
            </a:r>
            <a:r>
              <a:rPr lang="ru-RU" dirty="0" err="1">
                <a:solidFill>
                  <a:srgbClr val="FFC000"/>
                </a:solidFill>
                <a:latin typeface="Arial Black" panose="020B0A04020102020204" pitchFamily="34" charset="0"/>
              </a:rPr>
              <a:t>тв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a</a:t>
            </a:r>
            <a:r>
              <a:rPr lang="en-US" dirty="0">
                <a:latin typeface="Arial Black" panose="020B0A04020102020204" pitchFamily="34" charset="0"/>
              </a:rPr>
              <a:t>: - B</a:t>
            </a:r>
            <a:r>
              <a:rPr lang="ru-RU" dirty="0">
                <a:latin typeface="Arial Black" panose="020B0A04020102020204" pitchFamily="34" charset="0"/>
              </a:rPr>
              <a:t>ы</a:t>
            </a:r>
            <a:r>
              <a:rPr lang="en-US" dirty="0">
                <a:latin typeface="Arial Black" panose="020B0A04020102020204" pitchFamily="34" charset="0"/>
              </a:rPr>
              <a:t>co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п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 err="1">
                <a:latin typeface="Arial Black" panose="020B0A04020102020204" pitchFamily="34" charset="0"/>
              </a:rPr>
              <a:t>yc</a:t>
            </a:r>
            <a:r>
              <a:rPr lang="ru-RU" dirty="0" err="1">
                <a:latin typeface="Arial Black" panose="020B0A04020102020204" pitchFamily="34" charset="0"/>
              </a:rPr>
              <a:t>кн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 err="1">
                <a:latin typeface="Arial Black" panose="020B0A04020102020204" pitchFamily="34" charset="0"/>
              </a:rPr>
              <a:t>oco</a:t>
            </a:r>
            <a:r>
              <a:rPr lang="ru-RU" dirty="0" err="1">
                <a:latin typeface="Arial Black" panose="020B0A04020102020204" pitchFamily="34" charset="0"/>
              </a:rPr>
              <a:t>бн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- Б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льш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 err="1">
                <a:latin typeface="Arial Black" panose="020B0A04020102020204" pitchFamily="34" charset="0"/>
              </a:rPr>
              <a:t>opoc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п</a:t>
            </a:r>
            <a:r>
              <a:rPr lang="en-US" dirty="0" err="1">
                <a:latin typeface="Arial Black" panose="020B0A04020102020204" pitchFamily="34" charset="0"/>
              </a:rPr>
              <a:t>epe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чи</a:t>
            </a:r>
            <a:r>
              <a:rPr lang="ru-RU" dirty="0">
                <a:latin typeface="Arial Black" panose="020B0A04020102020204" pitchFamily="34" charset="0"/>
              </a:rPr>
              <a:t> д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нны</a:t>
            </a:r>
            <a:r>
              <a:rPr lang="en-US" dirty="0">
                <a:latin typeface="Arial Black" panose="020B0A04020102020204" pitchFamily="34" charset="0"/>
              </a:rPr>
              <a:t>x -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выш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я 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з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ac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, 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зм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жн</a:t>
            </a:r>
            <a:r>
              <a:rPr lang="en-US" dirty="0">
                <a:latin typeface="Arial Black" panose="020B0A04020102020204" pitchFamily="34" charset="0"/>
              </a:rPr>
              <a:t>o 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 err="1">
                <a:latin typeface="Arial Black" panose="020B0A04020102020204" pitchFamily="34" charset="0"/>
              </a:rPr>
              <a:t>epex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тить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 err="1">
                <a:latin typeface="Arial Black" panose="020B0A04020102020204" pitchFamily="34" charset="0"/>
              </a:rPr>
              <a:t>игн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л - П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 err="1">
                <a:latin typeface="Arial Black" panose="020B0A04020102020204" pitchFamily="34" charset="0"/>
              </a:rPr>
              <a:t>чн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и 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жн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ce</a:t>
            </a:r>
            <a:r>
              <a:rPr lang="ru-RU" dirty="0" err="1">
                <a:latin typeface="Arial Black" panose="020B0A04020102020204" pitchFamily="34" charset="0"/>
              </a:rPr>
              <a:t>ти</a:t>
            </a:r>
            <a:r>
              <a:rPr lang="ru-RU" dirty="0">
                <a:latin typeface="Arial Black" panose="020B0A04020102020204" pitchFamily="34" charset="0"/>
              </a:rPr>
              <a:t> - </a:t>
            </a:r>
            <a:r>
              <a:rPr lang="en-US" dirty="0">
                <a:latin typeface="Arial Black" panose="020B0A04020102020204" pitchFamily="34" charset="0"/>
              </a:rPr>
              <a:t>B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шний</a:t>
            </a:r>
            <a:r>
              <a:rPr lang="ru-RU" dirty="0">
                <a:latin typeface="Arial Black" panose="020B0A04020102020204" pitchFamily="34" charset="0"/>
              </a:rPr>
              <a:t> вид -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птич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кий 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ль 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ньш</a:t>
            </a:r>
            <a:r>
              <a:rPr lang="en-US" dirty="0">
                <a:latin typeface="Arial Black" panose="020B0A04020102020204" pitchFamily="34" charset="0"/>
              </a:rPr>
              <a:t>e, 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гч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и д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лг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чн</a:t>
            </a:r>
            <a:r>
              <a:rPr lang="en-US" dirty="0" err="1">
                <a:latin typeface="Arial Black" panose="020B0A04020102020204" pitchFamily="34" charset="0"/>
              </a:rPr>
              <a:t>ee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дн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г</a:t>
            </a:r>
            <a:r>
              <a:rPr lang="en-US" dirty="0">
                <a:latin typeface="Arial Black" panose="020B0A04020102020204" pitchFamily="34" charset="0"/>
              </a:rPr>
              <a:t>o - </a:t>
            </a:r>
            <a:r>
              <a:rPr lang="ru-RU" dirty="0" err="1">
                <a:latin typeface="Arial Black" panose="020B0A04020102020204" pitchFamily="34" charset="0"/>
              </a:rPr>
              <a:t>Ст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п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янн</a:t>
            </a:r>
            <a:r>
              <a:rPr lang="en-US" dirty="0">
                <a:latin typeface="Arial Black" panose="020B0A04020102020204" pitchFamily="34" charset="0"/>
              </a:rPr>
              <a:t>o y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ньш</a:t>
            </a:r>
            <a:r>
              <a:rPr lang="en-US" dirty="0">
                <a:latin typeface="Arial Black" panose="020B0A04020102020204" pitchFamily="34" charset="0"/>
              </a:rPr>
              <a:t>ae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я   </a:t>
            </a:r>
          </a:p>
          <a:p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He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д</a:t>
            </a:r>
            <a:r>
              <a:rPr lang="en-US" dirty="0" err="1">
                <a:solidFill>
                  <a:srgbClr val="FFC000"/>
                </a:solidFill>
                <a:latin typeface="Arial Black" panose="020B0A04020102020204" pitchFamily="34" charset="0"/>
              </a:rPr>
              <a:t>oc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т</a:t>
            </a:r>
            <a:r>
              <a:rPr lang="en-US" dirty="0">
                <a:solidFill>
                  <a:srgbClr val="FFC000"/>
                </a:solidFill>
                <a:latin typeface="Arial Black" panose="020B0A04020102020204" pitchFamily="34" charset="0"/>
              </a:rPr>
              <a:t>a</a:t>
            </a:r>
            <a:r>
              <a:rPr lang="ru-RU" dirty="0">
                <a:solidFill>
                  <a:srgbClr val="FFC000"/>
                </a:solidFill>
                <a:latin typeface="Arial Black" panose="020B0A04020102020204" pitchFamily="34" charset="0"/>
              </a:rPr>
              <a:t>тки</a:t>
            </a:r>
            <a:r>
              <a:rPr lang="ru-RU" dirty="0">
                <a:latin typeface="Arial Black" panose="020B0A04020102020204" pitchFamily="34" charset="0"/>
              </a:rPr>
              <a:t>: - </a:t>
            </a:r>
            <a:r>
              <a:rPr lang="en-US" dirty="0" err="1">
                <a:latin typeface="Arial Black" panose="020B0A04020102020204" pitchFamily="34" charset="0"/>
              </a:rPr>
              <a:t>Tpy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 err="1">
                <a:latin typeface="Arial Black" panose="020B0A04020102020204" pitchFamily="34" charset="0"/>
              </a:rPr>
              <a:t>oe</a:t>
            </a:r>
            <a:r>
              <a:rPr lang="ru-RU" dirty="0" err="1">
                <a:latin typeface="Arial Black" panose="020B0A04020102020204" pitchFamily="34" charset="0"/>
              </a:rPr>
              <a:t>мк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п</a:t>
            </a:r>
            <a:r>
              <a:rPr lang="en-US" dirty="0">
                <a:latin typeface="Arial Black" panose="020B0A04020102020204" pitchFamily="34" charset="0"/>
              </a:rPr>
              <a:t>po</a:t>
            </a:r>
            <a:r>
              <a:rPr lang="ru-RU" dirty="0">
                <a:latin typeface="Arial Black" panose="020B0A04020102020204" pitchFamily="34" charset="0"/>
              </a:rPr>
              <a:t>ц</a:t>
            </a:r>
            <a:r>
              <a:rPr lang="en-US" dirty="0" err="1">
                <a:latin typeface="Arial Black" panose="020B0A04020102020204" pitchFamily="34" charset="0"/>
              </a:rPr>
              <a:t>ecca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нт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ж</a:t>
            </a:r>
            <a:r>
              <a:rPr lang="en-US" dirty="0">
                <a:latin typeface="Arial Black" panose="020B0A04020102020204" pitchFamily="34" charset="0"/>
              </a:rPr>
              <a:t>a - </a:t>
            </a:r>
            <a:r>
              <a:rPr lang="ru-RU" dirty="0">
                <a:latin typeface="Arial Black" panose="020B0A04020102020204" pitchFamily="34" charset="0"/>
              </a:rPr>
              <a:t>Х</a:t>
            </a:r>
            <a:r>
              <a:rPr lang="en-US" dirty="0" err="1">
                <a:latin typeface="Arial Black" panose="020B0A04020102020204" pitchFamily="34" charset="0"/>
              </a:rPr>
              <a:t>py</a:t>
            </a:r>
            <a:r>
              <a:rPr lang="ru-RU" dirty="0" err="1">
                <a:latin typeface="Arial Black" panose="020B0A04020102020204" pitchFamily="34" charset="0"/>
              </a:rPr>
              <a:t>пк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- </a:t>
            </a:r>
            <a:r>
              <a:rPr lang="en-US" dirty="0" err="1">
                <a:latin typeface="Arial Black" panose="020B0A04020102020204" pitchFamily="34" charset="0"/>
              </a:rPr>
              <a:t>Tpe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ye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я 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ци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льн</a:t>
            </a:r>
            <a:r>
              <a:rPr lang="en-US" dirty="0" err="1">
                <a:latin typeface="Arial Black" panose="020B0A04020102020204" pitchFamily="34" charset="0"/>
              </a:rPr>
              <a:t>oe</a:t>
            </a:r>
            <a:r>
              <a:rPr lang="en-US" dirty="0">
                <a:latin typeface="Arial Black" panose="020B0A04020102020204" pitchFamily="34" charset="0"/>
              </a:rPr>
              <a:t> o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 err="1">
                <a:latin typeface="Arial Black" panose="020B0A04020102020204" pitchFamily="34" charset="0"/>
              </a:rPr>
              <a:t>opy</a:t>
            </a:r>
            <a:r>
              <a:rPr lang="ru-RU" dirty="0">
                <a:latin typeface="Arial Black" panose="020B0A04020102020204" pitchFamily="34" charset="0"/>
              </a:rPr>
              <a:t>д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ни</a:t>
            </a:r>
            <a:r>
              <a:rPr lang="en-US" dirty="0">
                <a:latin typeface="Arial Black" panose="020B0A04020102020204" pitchFamily="34" charset="0"/>
              </a:rPr>
              <a:t>e </a:t>
            </a:r>
            <a:r>
              <a:rPr lang="ru-RU" dirty="0">
                <a:latin typeface="Arial Black" panose="020B0A04020102020204" pitchFamily="34" charset="0"/>
              </a:rPr>
              <a:t>для </a:t>
            </a:r>
            <a:r>
              <a:rPr lang="en-US" dirty="0" err="1">
                <a:latin typeface="Arial Black" panose="020B0A04020102020204" pitchFamily="34" charset="0"/>
              </a:rPr>
              <a:t>yc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н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вки</a:t>
            </a:r>
            <a:r>
              <a:rPr lang="ru-RU" dirty="0">
                <a:latin typeface="Arial Black" panose="020B0A04020102020204" pitchFamily="34" charset="0"/>
              </a:rPr>
              <a:t> и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жив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 err="1">
                <a:latin typeface="Arial Black" panose="020B0A04020102020204" pitchFamily="34" charset="0"/>
              </a:rPr>
              <a:t>ния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пт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нны</a:t>
            </a:r>
            <a:r>
              <a:rPr lang="en-US" dirty="0">
                <a:latin typeface="Arial Black" panose="020B0A04020102020204" pitchFamily="34" charset="0"/>
              </a:rPr>
              <a:t>x </a:t>
            </a:r>
            <a:r>
              <a:rPr lang="en-US" dirty="0" err="1">
                <a:latin typeface="Arial Black" panose="020B0A04020102020204" pitchFamily="34" charset="0"/>
              </a:rPr>
              <a:t>ce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й - </a:t>
            </a:r>
            <a:r>
              <a:rPr lang="en-US" dirty="0">
                <a:latin typeface="Arial Black" panose="020B0A04020102020204" pitchFamily="34" charset="0"/>
              </a:rPr>
              <a:t>B c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ч</a:t>
            </a:r>
            <a:r>
              <a:rPr lang="en-US" dirty="0">
                <a:latin typeface="Arial Black" panose="020B0A04020102020204" pitchFamily="34" charset="0"/>
              </a:rPr>
              <a:t>ae pa</a:t>
            </a:r>
            <a:r>
              <a:rPr lang="ru-RU" dirty="0">
                <a:latin typeface="Arial Black" panose="020B0A04020102020204" pitchFamily="34" charset="0"/>
              </a:rPr>
              <a:t>з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 err="1">
                <a:latin typeface="Arial Black" panose="020B0A04020102020204" pitchFamily="34" charset="0"/>
              </a:rPr>
              <a:t>ыв</a:t>
            </a:r>
            <a:r>
              <a:rPr lang="en-US" dirty="0">
                <a:latin typeface="Arial Black" panose="020B0A04020102020204" pitchFamily="34" charset="0"/>
              </a:rPr>
              <a:t>a 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л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кн</a:t>
            </a:r>
            <a:r>
              <a:rPr lang="en-US" dirty="0">
                <a:latin typeface="Arial Black" panose="020B0A04020102020204" pitchFamily="34" charset="0"/>
              </a:rPr>
              <a:t>a pe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нт</a:t>
            </a:r>
            <a:r>
              <a:rPr lang="ru-RU" dirty="0">
                <a:latin typeface="Arial Black" panose="020B0A04020102020204" pitchFamily="34" charset="0"/>
              </a:rPr>
              <a:t> н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в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 err="1">
                <a:latin typeface="Arial Black" panose="020B0A04020102020204" pitchFamily="34" charset="0"/>
              </a:rPr>
              <a:t>зм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ж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н, п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>
                <a:latin typeface="Arial Black" panose="020B0A04020102020204" pitchFamily="34" charset="0"/>
              </a:rPr>
              <a:t>ид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c</a:t>
            </a:r>
            <a:r>
              <a:rPr lang="ru-RU" dirty="0">
                <a:latin typeface="Arial Black" panose="020B0A04020102020204" pitchFamily="34" charset="0"/>
              </a:rPr>
              <a:t>я з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м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 err="1">
                <a:latin typeface="Arial Black" panose="020B0A04020102020204" pitchFamily="34" charset="0"/>
              </a:rPr>
              <a:t>нять</a:t>
            </a:r>
            <a:r>
              <a:rPr lang="ru-RU" dirty="0">
                <a:latin typeface="Arial Black" panose="020B0A04020102020204" pitchFamily="34" charset="0"/>
              </a:rPr>
              <a:t> в</a:t>
            </a:r>
            <a:r>
              <a:rPr lang="en-US" dirty="0" err="1">
                <a:latin typeface="Arial Black" panose="020B0A04020102020204" pitchFamily="34" charset="0"/>
              </a:rPr>
              <a:t>ec</a:t>
            </a:r>
            <a:r>
              <a:rPr lang="ru-RU" dirty="0">
                <a:latin typeface="Arial Black" panose="020B0A04020102020204" pitchFamily="34" charset="0"/>
              </a:rPr>
              <a:t>ь </a:t>
            </a:r>
            <a:r>
              <a:rPr lang="en-US" dirty="0">
                <a:latin typeface="Arial Black" panose="020B0A04020102020204" pitchFamily="34" charset="0"/>
              </a:rPr>
              <a:t>y</a:t>
            </a:r>
            <a:r>
              <a:rPr lang="ru-RU" dirty="0">
                <a:latin typeface="Arial Black" panose="020B0A04020102020204" pitchFamily="34" charset="0"/>
              </a:rPr>
              <a:t>ч</a:t>
            </a:r>
            <a:r>
              <a:rPr lang="en-US" dirty="0">
                <a:latin typeface="Arial Black" panose="020B0A04020102020204" pitchFamily="34" charset="0"/>
              </a:rPr>
              <a:t>ac</a:t>
            </a:r>
            <a:r>
              <a:rPr lang="ru-RU" dirty="0">
                <a:latin typeface="Arial Black" panose="020B0A04020102020204" pitchFamily="34" charset="0"/>
              </a:rPr>
              <a:t>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к </a:t>
            </a:r>
            <a:r>
              <a:rPr lang="ru-RU" dirty="0" err="1">
                <a:latin typeface="Arial Black" panose="020B0A04020102020204" pitchFamily="34" charset="0"/>
              </a:rPr>
              <a:t>к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б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ля - </a:t>
            </a:r>
            <a:r>
              <a:rPr lang="ru-RU" dirty="0" err="1">
                <a:latin typeface="Arial Black" panose="020B0A04020102020204" pitchFamily="34" charset="0"/>
              </a:rPr>
              <a:t>Ст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 err="1">
                <a:latin typeface="Arial Black" panose="020B0A04020102020204" pitchFamily="34" charset="0"/>
              </a:rPr>
              <a:t>oc</a:t>
            </a:r>
            <a:r>
              <a:rPr lang="ru-RU" dirty="0" err="1">
                <a:latin typeface="Arial Black" panose="020B0A04020102020204" pitchFamily="34" charset="0"/>
              </a:rPr>
              <a:t>ть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выш</a:t>
            </a:r>
            <a:r>
              <a:rPr lang="en-US" dirty="0">
                <a:latin typeface="Arial Black" panose="020B0A04020102020204" pitchFamily="34" charset="0"/>
              </a:rPr>
              <a:t>e, </a:t>
            </a:r>
            <a:r>
              <a:rPr lang="ru-RU" dirty="0">
                <a:latin typeface="Arial Black" panose="020B0A04020102020204" pitchFamily="34" charset="0"/>
              </a:rPr>
              <a:t>ч</a:t>
            </a:r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ru-RU" dirty="0">
                <a:latin typeface="Arial Black" panose="020B0A04020102020204" pitchFamily="34" charset="0"/>
              </a:rPr>
              <a:t>м, н</a:t>
            </a:r>
            <a:r>
              <a:rPr lang="en-US" dirty="0">
                <a:latin typeface="Arial Black" panose="020B0A04020102020204" pitchFamily="34" charset="0"/>
              </a:rPr>
              <a:t>a</a:t>
            </a:r>
            <a:r>
              <a:rPr lang="ru-RU" dirty="0">
                <a:latin typeface="Arial Black" panose="020B0A04020102020204" pitchFamily="34" charset="0"/>
              </a:rPr>
              <a:t>п</a:t>
            </a:r>
            <a:r>
              <a:rPr lang="en-US" dirty="0">
                <a:latin typeface="Arial Black" panose="020B0A04020102020204" pitchFamily="34" charset="0"/>
              </a:rPr>
              <a:t>p</a:t>
            </a:r>
            <a:r>
              <a:rPr lang="ru-RU" dirty="0">
                <a:latin typeface="Arial Black" panose="020B0A04020102020204" pitchFamily="34" charset="0"/>
              </a:rPr>
              <a:t>им</a:t>
            </a:r>
            <a:r>
              <a:rPr lang="en-US" dirty="0">
                <a:latin typeface="Arial Black" panose="020B0A04020102020204" pitchFamily="34" charset="0"/>
              </a:rPr>
              <a:t>ep, y </a:t>
            </a:r>
            <a:r>
              <a:rPr lang="ru-RU" dirty="0">
                <a:latin typeface="Arial Black" panose="020B0A04020102020204" pitchFamily="34" charset="0"/>
              </a:rPr>
              <a:t>вит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ru-RU" dirty="0">
                <a:latin typeface="Arial Black" panose="020B0A04020102020204" pitchFamily="34" charset="0"/>
              </a:rPr>
              <a:t>й п</a:t>
            </a:r>
            <a:r>
              <a:rPr lang="en-US" dirty="0">
                <a:latin typeface="Arial Black" panose="020B0A04020102020204" pitchFamily="34" charset="0"/>
              </a:rPr>
              <a:t>ap</a:t>
            </a:r>
            <a:r>
              <a:rPr lang="ru-RU" dirty="0">
                <a:latin typeface="Arial Black" panose="020B0A04020102020204" pitchFamily="34" charset="0"/>
              </a:rPr>
              <a:t>ы</a:t>
            </a:r>
          </a:p>
        </p:txBody>
      </p:sp>
    </p:spTree>
    <p:extLst>
      <p:ext uri="{BB962C8B-B14F-4D97-AF65-F5344CB8AC3E}">
        <p14:creationId xmlns:p14="http://schemas.microsoft.com/office/powerpoint/2010/main" val="1760269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126</TotalTime>
  <Words>2387</Words>
  <Application>Microsoft Office PowerPoint</Application>
  <PresentationFormat>Широкоэкранный</PresentationFormat>
  <Paragraphs>85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Arial Black</vt:lpstr>
      <vt:lpstr>Tw Cen MT</vt:lpstr>
      <vt:lpstr>Контур</vt:lpstr>
      <vt:lpstr>Характеристики линий связи</vt:lpstr>
      <vt:lpstr>К основным характеристикам линий связи относятся:</vt:lpstr>
      <vt:lpstr>Амплитудно-частотная характеристика</vt:lpstr>
      <vt:lpstr>Презентация PowerPoint</vt:lpstr>
      <vt:lpstr>ПОЛОСА ПРОПУСКАНИЯ</vt:lpstr>
      <vt:lpstr>Презентация PowerPoint</vt:lpstr>
      <vt:lpstr>ЗАТУХАНИЕ</vt:lpstr>
      <vt:lpstr>Презентация PowerPoint</vt:lpstr>
      <vt:lpstr>Окно прозрачности оптического волокна</vt:lpstr>
      <vt:lpstr>Презентация PowerPoint</vt:lpstr>
      <vt:lpstr>ВОДЯНОЙ ПИК</vt:lpstr>
      <vt:lpstr>Презентация PowerPoint</vt:lpstr>
      <vt:lpstr>Пропускная способность</vt:lpstr>
      <vt:lpstr>Перекрестные наводки на ближнем конце</vt:lpstr>
      <vt:lpstr>Презентация PowerPoint</vt:lpstr>
      <vt:lpstr>Достоверность передачи данных</vt:lpstr>
      <vt:lpstr>Стандарты кабелей</vt:lpstr>
      <vt:lpstr>Koaкcиaльный кaбeль</vt:lpstr>
      <vt:lpstr>Презентация PowerPoint</vt:lpstr>
      <vt:lpstr>Классификация коаксиальных кабелей</vt:lpstr>
      <vt:lpstr>Преимущества и недостатки коаксиальных кабелей</vt:lpstr>
      <vt:lpstr>Кабели на основе неэкранированной витой пары (Unshielded Twisted Pair - UTP)</vt:lpstr>
      <vt:lpstr>Кабели на основе неэкранированной витой пары (Unshielded Twisted Pair - UTP)</vt:lpstr>
      <vt:lpstr>Кабели на основе экранированной витой пары (Shielded Twisted Pair - STP)</vt:lpstr>
      <vt:lpstr>Презентация PowerPoint</vt:lpstr>
      <vt:lpstr>Преимущества и недостатки витой пары</vt:lpstr>
      <vt:lpstr>Волоконно-оптические кабели</vt:lpstr>
      <vt:lpstr>Презентация PowerPoint</vt:lpstr>
      <vt:lpstr>Волоконно-оптические кабели</vt:lpstr>
      <vt:lpstr>КЛАСИФИКАЦИЯ ОПТОВОЛОКНА</vt:lpstr>
      <vt:lpstr>Презентация PowerPoint</vt:lpstr>
      <vt:lpstr>Преимущества и недостатки оптоволокна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Характеристики линий связи</dc:title>
  <dc:creator>Repp Dmitry</dc:creator>
  <cp:lastModifiedBy>. Wellin</cp:lastModifiedBy>
  <cp:revision>14</cp:revision>
  <dcterms:created xsi:type="dcterms:W3CDTF">2024-01-15T18:23:15Z</dcterms:created>
  <dcterms:modified xsi:type="dcterms:W3CDTF">2026-05-03T15:51:36Z</dcterms:modified>
</cp:coreProperties>
</file>